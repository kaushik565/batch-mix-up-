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99" r:id="rId2"/>
    <p:sldId id="308" r:id="rId3"/>
    <p:sldId id="309" r:id="rId4"/>
    <p:sldId id="311" r:id="rId5"/>
    <p:sldId id="310" r:id="rId6"/>
    <p:sldId id="316" r:id="rId7"/>
    <p:sldId id="315" r:id="rId8"/>
    <p:sldId id="314" r:id="rId9"/>
    <p:sldId id="317" r:id="rId10"/>
    <p:sldId id="318" r:id="rId11"/>
    <p:sldId id="319" r:id="rId12"/>
    <p:sldId id="270" r:id="rId13"/>
  </p:sldIdLst>
  <p:sldSz cx="12192000" cy="6858000"/>
  <p:notesSz cx="7010400" cy="9296400"/>
  <p:embeddedFontLst>
    <p:embeddedFont>
      <p:font typeface="Century Gothic" panose="020B050202020202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8"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ICL KOL2" initials="AK" lastIdx="2" clrIdx="0"/>
  <p:cmAuthor id="2" name="Nevin Varghese" initials="NV" lastIdx="2" clrIdx="1"/>
  <p:cmAuthor id="3" name="Vineet Shah" initials="VS" lastIdx="6"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3B3"/>
    <a:srgbClr val="727271"/>
    <a:srgbClr val="E31E24"/>
    <a:srgbClr val="C41E24"/>
    <a:srgbClr val="727172"/>
    <a:srgbClr val="DD2A1B"/>
    <a:srgbClr val="FBFBFB"/>
    <a:srgbClr val="F7F7F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56" autoAdjust="0"/>
    <p:restoredTop sz="94660"/>
  </p:normalViewPr>
  <p:slideViewPr>
    <p:cSldViewPr snapToGrid="0" showGuides="1">
      <p:cViewPr>
        <p:scale>
          <a:sx n="75" d="100"/>
          <a:sy n="75" d="100"/>
        </p:scale>
        <p:origin x="538" y="283"/>
      </p:cViewPr>
      <p:guideLst>
        <p:guide orient="horz" pos="3008"/>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9E6AC0F-99C9-4F6C-8AEA-8ACD1CEFFDD6}" type="datetimeFigureOut">
              <a:rPr lang="en-US" smtClean="0"/>
              <a:t>9/30/2025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1774DFF-5C5B-4483-88C6-5DB4C480987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9999" y="87313"/>
            <a:ext cx="10310563" cy="622300"/>
          </a:xfrm>
        </p:spPr>
        <p:txBody>
          <a:bodyPr>
            <a:normAutofit/>
          </a:bodyPr>
          <a:lstStyle>
            <a:lvl1pPr>
              <a:lnSpc>
                <a:spcPct val="100000"/>
              </a:lnSpc>
              <a:defRPr sz="2400" b="1"/>
            </a:lvl1pPr>
          </a:lstStyle>
          <a:p>
            <a:r>
              <a:rPr lang="en-US"/>
              <a:t>Click to edit Master title style</a:t>
            </a:r>
          </a:p>
        </p:txBody>
      </p:sp>
      <p:sp>
        <p:nvSpPr>
          <p:cNvPr id="18" name="Rectangle: Top Corners Rounded 17"/>
          <p:cNvSpPr/>
          <p:nvPr userDrawn="1"/>
        </p:nvSpPr>
        <p:spPr>
          <a:xfrm rot="5400000">
            <a:off x="111616" y="128463"/>
            <a:ext cx="316767" cy="540000"/>
          </a:xfrm>
          <a:prstGeom prst="round2SameRect">
            <a:avLst>
              <a:gd name="adj1" fmla="val 50000"/>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p:cNvCxnSpPr/>
          <p:nvPr userDrawn="1"/>
        </p:nvCxnSpPr>
        <p:spPr>
          <a:xfrm flipH="1">
            <a:off x="0" y="6736691"/>
            <a:ext cx="11531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p:cNvSpPr/>
          <p:nvPr userDrawn="1"/>
        </p:nvSpPr>
        <p:spPr>
          <a:xfrm rot="5400000">
            <a:off x="11650084" y="6314072"/>
            <a:ext cx="212060" cy="65222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800" b="1" dirty="0"/>
          </a:p>
        </p:txBody>
      </p:sp>
      <p:sp>
        <p:nvSpPr>
          <p:cNvPr id="6" name="Slide Number Placeholder 5"/>
          <p:cNvSpPr>
            <a:spLocks noGrp="1"/>
          </p:cNvSpPr>
          <p:nvPr>
            <p:ph type="sldNum" sz="quarter" idx="12"/>
          </p:nvPr>
        </p:nvSpPr>
        <p:spPr>
          <a:xfrm>
            <a:off x="11544724" y="6562557"/>
            <a:ext cx="422780" cy="155258"/>
          </a:xfrm>
        </p:spPr>
        <p:txBody>
          <a:bodyPr/>
          <a:lstStyle>
            <a:lvl1pPr algn="ctr">
              <a:defRPr sz="1000" b="0">
                <a:solidFill>
                  <a:schemeClr val="bg1"/>
                </a:solidFill>
              </a:defRPr>
            </a:lvl1pPr>
          </a:lstStyle>
          <a:p>
            <a:fld id="{517DE80E-2C84-46D4-990D-02A68F89C31B}" type="slidenum">
              <a:rPr lang="en-US" smtClean="0"/>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l="9816" t="18069" r="10571" b="12986"/>
          <a:stretch>
            <a:fillRect/>
          </a:stretch>
        </p:blipFill>
        <p:spPr>
          <a:xfrm>
            <a:off x="10850245" y="87630"/>
            <a:ext cx="1341755" cy="82169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1539240" y="1335565"/>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panose="020F0502020204030204"/>
              <a:buNone/>
              <a:defRPr sz="6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 name="Google Shape;18;p3"/>
          <p:cNvSpPr txBox="1">
            <a:spLocks noGrp="1"/>
          </p:cNvSpPr>
          <p:nvPr>
            <p:ph type="subTitle" idx="1"/>
          </p:nvPr>
        </p:nvSpPr>
        <p:spPr>
          <a:xfrm>
            <a:off x="1539240" y="3833629"/>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3" descr="9"/>
          <p:cNvPicPr preferRelativeResize="0"/>
          <p:nvPr/>
        </p:nvPicPr>
        <p:blipFill rotWithShape="1">
          <a:blip r:embed="rId2"/>
          <a:srcRect/>
          <a:stretch>
            <a:fillRect/>
          </a:stretch>
        </p:blipFill>
        <p:spPr>
          <a:xfrm rot="-5400000">
            <a:off x="-2873252" y="3412176"/>
            <a:ext cx="6264271" cy="106688"/>
          </a:xfrm>
          <a:prstGeom prst="rect">
            <a:avLst/>
          </a:prstGeom>
          <a:solidFill>
            <a:srgbClr val="DE0000"/>
          </a:solidFill>
          <a:ln>
            <a:noFill/>
          </a:ln>
        </p:spPr>
      </p:pic>
      <p:sp>
        <p:nvSpPr>
          <p:cNvPr id="20" name="Google Shape;20;p3"/>
          <p:cNvSpPr txBox="1"/>
          <p:nvPr/>
        </p:nvSpPr>
        <p:spPr>
          <a:xfrm>
            <a:off x="11849100" y="6705600"/>
            <a:ext cx="30988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7DE80E-2C84-46D4-990D-02A68F89C31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onlinegdb.com/online_python_compiler" TargetMode="External"/><Relationship Id="rId2" Type="http://schemas.openxmlformats.org/officeDocument/2006/relationships/hyperlink" Target="https://docs.google.com/document/d/1wfazcp5uvZNXjJm_HsSERG-kLW0GoDAx/edit?usp=drive_link&amp;ouid=107366926054555082251&amp;rtpof=true&amp;sd=true"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hyperlink" Target="http://www.molbiodiagnostics.com/" TargetMode="External"/><Relationship Id="rId7"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18.svg"/><Relationship Id="rId11" Type="http://schemas.openxmlformats.org/officeDocument/2006/relationships/image" Target="../media/image23.jpe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hyperlink" Target="mailto:product-management@molbiodiagnostics.com" TargetMode="Externa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62CA-45BA-69BB-7923-9C42C5B86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3" name="Slide Number Placeholder 2">
            <a:extLst>
              <a:ext uri="{FF2B5EF4-FFF2-40B4-BE49-F238E27FC236}">
                <a16:creationId xmlns:a16="http://schemas.microsoft.com/office/drawing/2014/main" id="{D3BB0947-3B69-7ED1-C929-1F1AF5899F79}"/>
              </a:ext>
            </a:extLst>
          </p:cNvPr>
          <p:cNvSpPr>
            <a:spLocks noGrp="1"/>
          </p:cNvSpPr>
          <p:nvPr>
            <p:ph type="sldNum" sz="quarter" idx="12"/>
          </p:nvPr>
        </p:nvSpPr>
        <p:spPr/>
        <p:txBody>
          <a:bodyPr/>
          <a:lstStyle/>
          <a:p>
            <a:fld id="{517DE80E-2C84-46D4-990D-02A68F89C31B}" type="slidenum">
              <a:rPr lang="en-US" smtClean="0"/>
              <a:t>1</a:t>
            </a:fld>
            <a:endParaRPr lang="en-US" dirty="0"/>
          </a:p>
        </p:txBody>
      </p:sp>
      <p:sp>
        <p:nvSpPr>
          <p:cNvPr id="5" name="Rectangle 4">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4CBB8ED-FA34-00CD-EC92-0D0F954B5814}"/>
              </a:ext>
            </a:extLst>
          </p:cNvPr>
          <p:cNvSpPr txBox="1"/>
          <p:nvPr/>
        </p:nvSpPr>
        <p:spPr>
          <a:xfrm>
            <a:off x="6219092" y="3421090"/>
            <a:ext cx="914400" cy="914400"/>
          </a:xfrm>
          <a:prstGeom prst="rect">
            <a:avLst/>
          </a:prstGeom>
          <a:noFill/>
        </p:spPr>
        <p:txBody>
          <a:bodyPr wrap="square" rtlCol="0">
            <a:spAutoFit/>
          </a:bodyPr>
          <a:lstStyle/>
          <a:p>
            <a:endParaRPr lang="en-IN" dirty="0"/>
          </a:p>
        </p:txBody>
      </p:sp>
      <p:sp>
        <p:nvSpPr>
          <p:cNvPr id="7" name="TextBox 6"/>
          <p:cNvSpPr txBox="1"/>
          <p:nvPr/>
        </p:nvSpPr>
        <p:spPr>
          <a:xfrm>
            <a:off x="3470361" y="2989130"/>
            <a:ext cx="5526141"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Name: </a:t>
            </a:r>
            <a:r>
              <a:rPr lang="en-US" sz="2000" b="1" dirty="0" err="1">
                <a:latin typeface="Arial" panose="020B0604020202020204" pitchFamily="34" charset="0"/>
                <a:cs typeface="Arial" panose="020B0604020202020204" pitchFamily="34" charset="0"/>
              </a:rPr>
              <a:t>Penke</a:t>
            </a:r>
            <a:r>
              <a:rPr lang="en-US" sz="2000" b="1" dirty="0">
                <a:latin typeface="Arial" panose="020B0604020202020204" pitchFamily="34" charset="0"/>
                <a:cs typeface="Arial" panose="020B0604020202020204" pitchFamily="34" charset="0"/>
              </a:rPr>
              <a:t> Lakshmana Sai Kaushik</a:t>
            </a:r>
          </a:p>
        </p:txBody>
      </p:sp>
      <p:sp>
        <p:nvSpPr>
          <p:cNvPr id="10" name="TextBox 9"/>
          <p:cNvSpPr txBox="1"/>
          <p:nvPr/>
        </p:nvSpPr>
        <p:spPr>
          <a:xfrm>
            <a:off x="3488915" y="3367307"/>
            <a:ext cx="3990703"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Department: Quality Assurance</a:t>
            </a:r>
          </a:p>
        </p:txBody>
      </p:sp>
      <p:sp>
        <p:nvSpPr>
          <p:cNvPr id="12" name="Google Shape;52;p2">
            <a:extLst>
              <a:ext uri="{FF2B5EF4-FFF2-40B4-BE49-F238E27FC236}">
                <a16:creationId xmlns:a16="http://schemas.microsoft.com/office/drawing/2014/main" id="{88A10F7A-4406-EC59-FBA6-98764B7E8412}"/>
              </a:ext>
            </a:extLst>
          </p:cNvPr>
          <p:cNvSpPr/>
          <p:nvPr/>
        </p:nvSpPr>
        <p:spPr>
          <a:xfrm flipH="1">
            <a:off x="3099749" y="2362564"/>
            <a:ext cx="73112" cy="2500249"/>
          </a:xfrm>
          <a:prstGeom prst="rect">
            <a:avLst/>
          </a:prstGeom>
          <a:solidFill>
            <a:schemeClr val="accent1"/>
          </a:solidFill>
          <a:ln w="12700" cap="flat" cmpd="sng">
            <a:solidFill>
              <a:srgbClr val="5D110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4" name="Rectangle 3"/>
          <p:cNvSpPr/>
          <p:nvPr/>
        </p:nvSpPr>
        <p:spPr>
          <a:xfrm>
            <a:off x="3488915" y="3745484"/>
            <a:ext cx="6096000" cy="400110"/>
          </a:xfrm>
          <a:prstGeom prst="rect">
            <a:avLst/>
          </a:prstGeom>
        </p:spPr>
        <p:txBody>
          <a:bodyPr>
            <a:spAutoFit/>
          </a:bodyPr>
          <a:lstStyle/>
          <a:p>
            <a:r>
              <a:rPr lang="en-US" sz="2000" dirty="0">
                <a:latin typeface="Arial" panose="020B0604020202020204" pitchFamily="34" charset="0"/>
                <a:cs typeface="Arial" panose="020B0604020202020204" pitchFamily="34" charset="0"/>
              </a:rPr>
              <a:t>Subtitle: Real-Time Batch / Line Mix-Up Detection</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2961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17DE80E-2C84-46D4-990D-02A68F89C31B}" type="slidenum">
              <a:rPr lang="en-US" smtClean="0"/>
              <a:t>2</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10" name="Rectangle 9"/>
          <p:cNvSpPr/>
          <p:nvPr/>
        </p:nvSpPr>
        <p:spPr>
          <a:xfrm>
            <a:off x="665018" y="1221939"/>
            <a:ext cx="9836727" cy="3293209"/>
          </a:xfrm>
          <a:prstGeom prst="rect">
            <a:avLst/>
          </a:prstGeom>
        </p:spPr>
        <p:txBody>
          <a:bodyPr wrap="square">
            <a:spAutoFit/>
          </a:bodyPr>
          <a:lstStyle/>
          <a:p>
            <a:pPr marL="342900" indent="-342900">
              <a:lnSpc>
                <a:spcPct val="200000"/>
              </a:lnSpc>
              <a:buFont typeface="Wingdings" panose="05000000000000000000" pitchFamily="2" charset="2"/>
              <a:buChar char="Ø"/>
            </a:pPr>
            <a:r>
              <a:rPr lang="en-US" sz="2400" b="1" u="sng" dirty="0">
                <a:latin typeface="Arial" panose="020B0604020202020204" pitchFamily="34" charset="0"/>
                <a:cs typeface="Arial" panose="020B0604020202020204" pitchFamily="34" charset="0"/>
              </a:rPr>
              <a:t>Objective of the Initiative:</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Prevent </a:t>
            </a:r>
            <a:r>
              <a:rPr lang="en-US" sz="2000" b="1" dirty="0">
                <a:latin typeface="Arial" panose="020B0604020202020204" pitchFamily="34" charset="0"/>
                <a:cs typeface="Arial" panose="020B0604020202020204" pitchFamily="34" charset="0"/>
              </a:rPr>
              <a:t>batch mix-ups</a:t>
            </a:r>
            <a:r>
              <a:rPr lang="en-US" sz="2000" dirty="0">
                <a:latin typeface="Arial" panose="020B0604020202020204" pitchFamily="34" charset="0"/>
                <a:cs typeface="Arial" panose="020B0604020202020204" pitchFamily="34" charset="0"/>
              </a:rPr>
              <a:t> in production.</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Identify </a:t>
            </a:r>
            <a:r>
              <a:rPr lang="en-US" sz="2000" b="1" dirty="0">
                <a:latin typeface="Arial" panose="020B0604020202020204" pitchFamily="34" charset="0"/>
                <a:cs typeface="Arial" panose="020B0604020202020204" pitchFamily="34" charset="0"/>
              </a:rPr>
              <a:t>incorrect cartridges</a:t>
            </a:r>
            <a:r>
              <a:rPr lang="en-US" sz="2000" dirty="0">
                <a:latin typeface="Arial" panose="020B0604020202020204" pitchFamily="34" charset="0"/>
                <a:cs typeface="Arial" panose="020B0604020202020204" pitchFamily="34" charset="0"/>
              </a:rPr>
              <a:t> before they move forward.</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Implement </a:t>
            </a:r>
            <a:r>
              <a:rPr lang="en-US" sz="2000" b="1" dirty="0">
                <a:latin typeface="Arial" panose="020B0604020202020204" pitchFamily="34" charset="0"/>
                <a:cs typeface="Arial" panose="020B0604020202020204" pitchFamily="34" charset="0"/>
              </a:rPr>
              <a:t>real-time validation</a:t>
            </a:r>
            <a:r>
              <a:rPr lang="en-US" sz="2000" dirty="0">
                <a:latin typeface="Arial" panose="020B0604020202020204" pitchFamily="34" charset="0"/>
                <a:cs typeface="Arial" panose="020B0604020202020204" pitchFamily="34" charset="0"/>
              </a:rPr>
              <a:t> using existing automatic QR scanning jig.</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Strengthen compliance, quality assurance, and traceability.</a:t>
            </a:r>
          </a:p>
        </p:txBody>
      </p:sp>
    </p:spTree>
    <p:extLst>
      <p:ext uri="{BB962C8B-B14F-4D97-AF65-F5344CB8AC3E}">
        <p14:creationId xmlns:p14="http://schemas.microsoft.com/office/powerpoint/2010/main" val="67191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2684192" y="5091184"/>
            <a:ext cx="2909454"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2988991" y="5930411"/>
            <a:ext cx="2230583"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2723455" y="1813327"/>
            <a:ext cx="4465767"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2848146" y="2612710"/>
            <a:ext cx="4465767"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2598778" y="3424675"/>
            <a:ext cx="6054422"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2808883" y="4291801"/>
            <a:ext cx="2909454" cy="510674"/>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2684192" y="998569"/>
            <a:ext cx="4465767" cy="510674"/>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p:txBody>
          <a:bodyPr/>
          <a:lstStyle/>
          <a:p>
            <a:fld id="{517DE80E-2C84-46D4-990D-02A68F89C31B}" type="slidenum">
              <a:rPr lang="en-US" smtClean="0"/>
              <a:t>3</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17" name="Rectangle 16"/>
          <p:cNvSpPr/>
          <p:nvPr/>
        </p:nvSpPr>
        <p:spPr>
          <a:xfrm>
            <a:off x="5957454" y="4275160"/>
            <a:ext cx="3214256" cy="510674"/>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p:cNvSpPr/>
          <p:nvPr/>
        </p:nvSpPr>
        <p:spPr>
          <a:xfrm>
            <a:off x="471026" y="1053851"/>
            <a:ext cx="1756757" cy="400110"/>
          </a:xfrm>
          <a:prstGeom prst="rect">
            <a:avLst/>
          </a:prstGeom>
        </p:spPr>
        <p:txBody>
          <a:bodyPr wrap="square">
            <a:spAutoFit/>
          </a:bodyPr>
          <a:lstStyle/>
          <a:p>
            <a:r>
              <a:rPr lang="en-US" sz="2000" b="1" u="sng" dirty="0">
                <a:latin typeface="Arial" panose="020B0604020202020204" pitchFamily="34" charset="0"/>
                <a:cs typeface="Arial" panose="020B0604020202020204" pitchFamily="34" charset="0"/>
              </a:rPr>
              <a:t>Flow Chart:</a:t>
            </a:r>
            <a:endParaRPr lang="en-IN" sz="2000" b="1" u="sng" dirty="0">
              <a:latin typeface="Arial" panose="020B0604020202020204" pitchFamily="34" charset="0"/>
              <a:cs typeface="Arial" panose="020B0604020202020204" pitchFamily="34" charset="0"/>
            </a:endParaRPr>
          </a:p>
        </p:txBody>
      </p:sp>
      <p:sp>
        <p:nvSpPr>
          <p:cNvPr id="9" name="Rectangle 8"/>
          <p:cNvSpPr/>
          <p:nvPr/>
        </p:nvSpPr>
        <p:spPr>
          <a:xfrm>
            <a:off x="2706724" y="971499"/>
            <a:ext cx="8709890" cy="5442516"/>
          </a:xfrm>
          <a:prstGeom prst="rect">
            <a:avLst/>
          </a:prstGeom>
        </p:spPr>
        <p:txBody>
          <a:bodyPr wrap="square">
            <a:spAutoFit/>
          </a:bodyPr>
          <a:lstStyle/>
          <a:p>
            <a:pPr>
              <a:lnSpc>
                <a:spcPct val="150000"/>
              </a:lnSpc>
            </a:pPr>
            <a:r>
              <a:rPr lang="en-IN" dirty="0">
                <a:latin typeface="Arial" panose="020B0604020202020204" pitchFamily="34" charset="0"/>
                <a:cs typeface="Arial" panose="020B0604020202020204" pitchFamily="34" charset="0"/>
              </a:rPr>
              <a:t>   Automatic Cartridge QR Scanning JIG</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Load Cartridges in Stacker</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QR Code Scanned by Jig</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b="1" dirty="0">
                <a:latin typeface="Arial" panose="020B0604020202020204" pitchFamily="34" charset="0"/>
                <a:cs typeface="Arial" panose="020B0604020202020204" pitchFamily="34" charset="0"/>
              </a:rPr>
              <a:t> It will check for </a:t>
            </a:r>
            <a:r>
              <a:rPr lang="en-IN" dirty="0">
                <a:latin typeface="Arial" panose="020B0604020202020204" pitchFamily="34" charset="0"/>
                <a:cs typeface="Arial" panose="020B0604020202020204" pitchFamily="34" charset="0"/>
              </a:rPr>
              <a:t>: QR Code / Batch Range / Line / Count </a:t>
            </a:r>
          </a:p>
          <a:p>
            <a:pPr>
              <a:lnSpc>
                <a:spcPct val="150000"/>
              </a:lnSpc>
            </a:pPr>
            <a:r>
              <a:rPr lang="en-IN" dirty="0">
                <a:latin typeface="Arial" panose="020B0604020202020204" pitchFamily="34" charset="0"/>
                <a:cs typeface="Arial" panose="020B0604020202020204" pitchFamily="34" charset="0"/>
              </a:rPr>
              <a:t>                       ↙                            ↘</a:t>
            </a:r>
          </a:p>
          <a:p>
            <a:pPr>
              <a:lnSpc>
                <a:spcPct val="150000"/>
              </a:lnSpc>
            </a:pP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Pass</a:t>
            </a:r>
            <a:r>
              <a:rPr lang="en-IN" dirty="0">
                <a:latin typeface="Arial" panose="020B0604020202020204" pitchFamily="34" charset="0"/>
                <a:cs typeface="Arial" panose="020B0604020202020204" pitchFamily="34" charset="0"/>
              </a:rPr>
              <a:t> → Move Forward           </a:t>
            </a:r>
            <a:r>
              <a:rPr lang="en-IN" b="1" dirty="0">
                <a:latin typeface="Arial" panose="020B0604020202020204" pitchFamily="34" charset="0"/>
                <a:cs typeface="Arial" panose="020B0604020202020204" pitchFamily="34" charset="0"/>
              </a:rPr>
              <a:t>Fail</a:t>
            </a:r>
            <a:r>
              <a:rPr lang="en-IN" dirty="0">
                <a:latin typeface="Arial" panose="020B0604020202020204" pitchFamily="34" charset="0"/>
                <a:cs typeface="Arial" panose="020B0604020202020204" pitchFamily="34" charset="0"/>
              </a:rPr>
              <a:t> → Alert / Divert Cartridge</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Next Cartridge Drops </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Repeat the Process</a:t>
            </a:r>
          </a:p>
        </p:txBody>
      </p:sp>
      <p:sp>
        <p:nvSpPr>
          <p:cNvPr id="6" name="TextBox 5">
            <a:extLst>
              <a:ext uri="{FF2B5EF4-FFF2-40B4-BE49-F238E27FC236}">
                <a16:creationId xmlns:a16="http://schemas.microsoft.com/office/drawing/2014/main" id="{FB74E560-7406-C580-E16D-F357C0D12A82}"/>
              </a:ext>
            </a:extLst>
          </p:cNvPr>
          <p:cNvSpPr txBox="1"/>
          <p:nvPr/>
        </p:nvSpPr>
        <p:spPr>
          <a:xfrm>
            <a:off x="2377440" y="4003092"/>
            <a:ext cx="2011680" cy="260810"/>
          </a:xfrm>
          <a:prstGeom prst="rect">
            <a:avLst/>
          </a:prstGeom>
          <a:noFill/>
        </p:spPr>
        <p:txBody>
          <a:bodyPr wrap="square">
            <a:spAutoFit/>
          </a:bodyPr>
          <a:lstStyle/>
          <a:p>
            <a:r>
              <a:rPr lang="en-IN" sz="1100" dirty="0">
                <a:solidFill>
                  <a:schemeClr val="accent6"/>
                </a:solidFill>
                <a:latin typeface="Arial" panose="020B0604020202020204" pitchFamily="34" charset="0"/>
                <a:cs typeface="Arial" panose="020B0604020202020204" pitchFamily="34" charset="0"/>
              </a:rPr>
              <a:t>If it is same batch cartridge</a:t>
            </a:r>
            <a:endParaRPr lang="en-IN" sz="1100" dirty="0">
              <a:solidFill>
                <a:schemeClr val="accent6"/>
              </a:solidFill>
            </a:endParaRPr>
          </a:p>
        </p:txBody>
      </p:sp>
      <p:sp>
        <p:nvSpPr>
          <p:cNvPr id="7" name="TextBox 6">
            <a:extLst>
              <a:ext uri="{FF2B5EF4-FFF2-40B4-BE49-F238E27FC236}">
                <a16:creationId xmlns:a16="http://schemas.microsoft.com/office/drawing/2014/main" id="{28CA9B71-C65C-8DD1-2ADB-798B4EE5DBD0}"/>
              </a:ext>
            </a:extLst>
          </p:cNvPr>
          <p:cNvSpPr txBox="1"/>
          <p:nvPr/>
        </p:nvSpPr>
        <p:spPr>
          <a:xfrm>
            <a:off x="6482080" y="4003092"/>
            <a:ext cx="2011680" cy="260810"/>
          </a:xfrm>
          <a:prstGeom prst="rect">
            <a:avLst/>
          </a:prstGeom>
          <a:noFill/>
        </p:spPr>
        <p:txBody>
          <a:bodyPr wrap="square">
            <a:spAutoFit/>
          </a:bodyPr>
          <a:lstStyle/>
          <a:p>
            <a:r>
              <a:rPr lang="en-IN" sz="1100" dirty="0">
                <a:solidFill>
                  <a:schemeClr val="accent1"/>
                </a:solidFill>
                <a:latin typeface="Arial" panose="020B0604020202020204" pitchFamily="34" charset="0"/>
                <a:cs typeface="Arial" panose="020B0604020202020204" pitchFamily="34" charset="0"/>
              </a:rPr>
              <a:t>If it is different batch cartridge</a:t>
            </a:r>
            <a:endParaRPr lang="en-IN" sz="1100" dirty="0">
              <a:solidFill>
                <a:schemeClr val="accent1"/>
              </a:solidFill>
            </a:endParaRPr>
          </a:p>
        </p:txBody>
      </p:sp>
    </p:spTree>
    <p:extLst>
      <p:ext uri="{BB962C8B-B14F-4D97-AF65-F5344CB8AC3E}">
        <p14:creationId xmlns:p14="http://schemas.microsoft.com/office/powerpoint/2010/main" val="58630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17DE80E-2C84-46D4-990D-02A68F89C31B}" type="slidenum">
              <a:rPr lang="en-US" smtClean="0"/>
              <a:t>4</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6146"/>
          <a:stretch/>
        </p:blipFill>
        <p:spPr>
          <a:xfrm>
            <a:off x="1321378" y="1566265"/>
            <a:ext cx="3098222" cy="4655128"/>
          </a:xfrm>
          <a:prstGeom prst="rect">
            <a:avLst/>
          </a:prstGeom>
          <a:ln>
            <a:solidFill>
              <a:schemeClr val="tx1"/>
            </a:solidFill>
          </a:ln>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22677" t="12797" r="7085" b="13691"/>
          <a:stretch/>
        </p:blipFill>
        <p:spPr>
          <a:xfrm>
            <a:off x="6791307" y="1566265"/>
            <a:ext cx="3336365" cy="4655829"/>
          </a:xfrm>
          <a:prstGeom prst="rect">
            <a:avLst/>
          </a:prstGeom>
          <a:ln>
            <a:solidFill>
              <a:schemeClr val="tx1"/>
            </a:solidFill>
          </a:ln>
        </p:spPr>
      </p:pic>
      <p:sp>
        <p:nvSpPr>
          <p:cNvPr id="7" name="Oval 6"/>
          <p:cNvSpPr/>
          <p:nvPr/>
        </p:nvSpPr>
        <p:spPr>
          <a:xfrm>
            <a:off x="7301344" y="3380509"/>
            <a:ext cx="1717965" cy="19673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10266218" y="1790969"/>
            <a:ext cx="1824181" cy="102150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Load Cartridges in Stacker</a:t>
            </a:r>
            <a:endParaRPr lang="en-IN" dirty="0">
              <a:solidFill>
                <a:schemeClr val="tx1"/>
              </a:solidFill>
            </a:endParaRPr>
          </a:p>
        </p:txBody>
      </p:sp>
      <p:cxnSp>
        <p:nvCxnSpPr>
          <p:cNvPr id="11" name="Straight Arrow Connector 10"/>
          <p:cNvCxnSpPr/>
          <p:nvPr/>
        </p:nvCxnSpPr>
        <p:spPr>
          <a:xfrm flipV="1">
            <a:off x="9019309" y="2523857"/>
            <a:ext cx="1482436" cy="1798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4558146" y="1860621"/>
            <a:ext cx="1824181" cy="95185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Automatic Cartridge QR Scanning JIG</a:t>
            </a:r>
            <a:endParaRPr lang="en-IN" dirty="0">
              <a:solidFill>
                <a:schemeClr val="tx1"/>
              </a:solidFill>
            </a:endParaRPr>
          </a:p>
        </p:txBody>
      </p:sp>
      <p:cxnSp>
        <p:nvCxnSpPr>
          <p:cNvPr id="14" name="Straight Arrow Connector 13"/>
          <p:cNvCxnSpPr/>
          <p:nvPr/>
        </p:nvCxnSpPr>
        <p:spPr>
          <a:xfrm flipV="1">
            <a:off x="3484691" y="2673927"/>
            <a:ext cx="1198145" cy="1435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2" idx="3"/>
            <a:endCxn id="6" idx="1"/>
          </p:cNvCxnSpPr>
          <p:nvPr/>
        </p:nvCxnSpPr>
        <p:spPr>
          <a:xfrm>
            <a:off x="4419600" y="3893829"/>
            <a:ext cx="2371707" cy="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2" idx="1"/>
          </p:cNvCxnSpPr>
          <p:nvPr/>
        </p:nvCxnSpPr>
        <p:spPr>
          <a:xfrm>
            <a:off x="346364" y="3893829"/>
            <a:ext cx="975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3"/>
          </p:cNvCxnSpPr>
          <p:nvPr/>
        </p:nvCxnSpPr>
        <p:spPr>
          <a:xfrm flipV="1">
            <a:off x="10127672" y="3893829"/>
            <a:ext cx="1962727" cy="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265538" y="3380509"/>
            <a:ext cx="1136666"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Stage-1</a:t>
            </a:r>
            <a:endParaRPr lang="en-IN" sz="2000" b="1" dirty="0">
              <a:latin typeface="Arial" panose="020B0604020202020204" pitchFamily="34" charset="0"/>
              <a:cs typeface="Arial" panose="020B0604020202020204" pitchFamily="34" charset="0"/>
            </a:endParaRPr>
          </a:p>
        </p:txBody>
      </p:sp>
      <p:sp>
        <p:nvSpPr>
          <p:cNvPr id="23" name="Rectangle 22"/>
          <p:cNvSpPr/>
          <p:nvPr/>
        </p:nvSpPr>
        <p:spPr>
          <a:xfrm>
            <a:off x="5143096" y="3380509"/>
            <a:ext cx="1136666"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Stage-2</a:t>
            </a:r>
            <a:endParaRPr lang="en-IN" sz="2000" b="1" dirty="0">
              <a:latin typeface="Arial" panose="020B0604020202020204" pitchFamily="34" charset="0"/>
              <a:cs typeface="Arial" panose="020B0604020202020204" pitchFamily="34" charset="0"/>
            </a:endParaRPr>
          </a:p>
        </p:txBody>
      </p:sp>
      <p:sp>
        <p:nvSpPr>
          <p:cNvPr id="24" name="Rectangle 23"/>
          <p:cNvSpPr/>
          <p:nvPr/>
        </p:nvSpPr>
        <p:spPr>
          <a:xfrm>
            <a:off x="10754485" y="3380509"/>
            <a:ext cx="1136666"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Stage-3</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277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6096000" y="1066216"/>
            <a:ext cx="5871504" cy="532072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p:txBody>
          <a:bodyPr/>
          <a:lstStyle/>
          <a:p>
            <a:fld id="{517DE80E-2C84-46D4-990D-02A68F89C31B}" type="slidenum">
              <a:rPr lang="en-US" smtClean="0"/>
              <a:t>5</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42822" r="8706" b="20860"/>
          <a:stretch/>
        </p:blipFill>
        <p:spPr>
          <a:xfrm>
            <a:off x="471026" y="4692141"/>
            <a:ext cx="3447787" cy="1499075"/>
          </a:xfrm>
          <a:prstGeom prst="rect">
            <a:avLst/>
          </a:prstGeom>
          <a:ln>
            <a:solidFill>
              <a:schemeClr val="tx1"/>
            </a:solidFill>
          </a:ln>
        </p:spPr>
      </p:pic>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t="39954" r="14754" b="23623"/>
          <a:stretch/>
        </p:blipFill>
        <p:spPr>
          <a:xfrm>
            <a:off x="438618" y="1710577"/>
            <a:ext cx="3509537" cy="1828800"/>
          </a:xfrm>
          <a:prstGeom prst="rect">
            <a:avLst/>
          </a:prstGeom>
          <a:ln>
            <a:solidFill>
              <a:schemeClr val="tx1"/>
            </a:solidFill>
          </a:ln>
        </p:spPr>
      </p:pic>
      <p:sp>
        <p:nvSpPr>
          <p:cNvPr id="11" name="Rounded Rectangle 10"/>
          <p:cNvSpPr/>
          <p:nvPr/>
        </p:nvSpPr>
        <p:spPr>
          <a:xfrm>
            <a:off x="3996786" y="1266083"/>
            <a:ext cx="1903980" cy="71395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Automatically Scan QR</a:t>
            </a:r>
            <a:endParaRPr lang="en-IN" dirty="0">
              <a:solidFill>
                <a:schemeClr val="tx1"/>
              </a:solidFill>
            </a:endParaRPr>
          </a:p>
        </p:txBody>
      </p:sp>
      <p:sp>
        <p:nvSpPr>
          <p:cNvPr id="12" name="Rounded Rectangle 11"/>
          <p:cNvSpPr/>
          <p:nvPr/>
        </p:nvSpPr>
        <p:spPr>
          <a:xfrm>
            <a:off x="4237628" y="4661647"/>
            <a:ext cx="1658354" cy="180149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If QR Code matched and within the range, it should pass</a:t>
            </a:r>
            <a:endParaRPr lang="en-IN" dirty="0">
              <a:solidFill>
                <a:schemeClr val="tx1"/>
              </a:solidFill>
            </a:endParaRPr>
          </a:p>
        </p:txBody>
      </p:sp>
      <p:cxnSp>
        <p:nvCxnSpPr>
          <p:cNvPr id="13" name="Straight Arrow Connector 12"/>
          <p:cNvCxnSpPr/>
          <p:nvPr/>
        </p:nvCxnSpPr>
        <p:spPr>
          <a:xfrm flipV="1">
            <a:off x="2743200" y="1710577"/>
            <a:ext cx="1384290" cy="619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868554" y="5119089"/>
            <a:ext cx="2523337" cy="416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6096000" y="1216655"/>
            <a:ext cx="6096000" cy="400110"/>
          </a:xfrm>
          <a:prstGeom prst="rect">
            <a:avLst/>
          </a:prstGeom>
        </p:spPr>
        <p:txBody>
          <a:bodyPr>
            <a:spAutoFit/>
          </a:bodyPr>
          <a:lstStyle/>
          <a:p>
            <a:pPr marL="342900" indent="-342900">
              <a:buFont typeface="Wingdings" panose="05000000000000000000" pitchFamily="2" charset="2"/>
              <a:buChar char="Ø"/>
            </a:pPr>
            <a:r>
              <a:rPr lang="en-US" sz="2000" b="1" u="sng" dirty="0">
                <a:latin typeface="Arial" panose="020B0604020202020204" pitchFamily="34" charset="0"/>
                <a:cs typeface="Arial" panose="020B0604020202020204" pitchFamily="34" charset="0"/>
              </a:rPr>
              <a:t>What it will check when cartridge is scanned:</a:t>
            </a:r>
            <a:endParaRPr lang="en-IN" sz="2000" dirty="0">
              <a:latin typeface="Arial" panose="020B0604020202020204" pitchFamily="34" charset="0"/>
              <a:cs typeface="Arial" panose="020B0604020202020204" pitchFamily="34" charset="0"/>
            </a:endParaRPr>
          </a:p>
        </p:txBody>
      </p:sp>
      <p:cxnSp>
        <p:nvCxnSpPr>
          <p:cNvPr id="23" name="Straight Arrow Connector 22"/>
          <p:cNvCxnSpPr>
            <a:endCxn id="9" idx="0"/>
          </p:cNvCxnSpPr>
          <p:nvPr/>
        </p:nvCxnSpPr>
        <p:spPr>
          <a:xfrm>
            <a:off x="2193387" y="993661"/>
            <a:ext cx="0" cy="716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74690" y="1066216"/>
            <a:ext cx="1253586"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Stage- 3</a:t>
            </a:r>
            <a:endParaRPr lang="en-IN" sz="2000" b="1" dirty="0">
              <a:latin typeface="Arial" panose="020B0604020202020204" pitchFamily="34" charset="0"/>
              <a:cs typeface="Arial" panose="020B0604020202020204" pitchFamily="34" charset="0"/>
            </a:endParaRPr>
          </a:p>
        </p:txBody>
      </p:sp>
      <p:sp>
        <p:nvSpPr>
          <p:cNvPr id="26" name="Rectangle 25"/>
          <p:cNvSpPr/>
          <p:nvPr/>
        </p:nvSpPr>
        <p:spPr>
          <a:xfrm>
            <a:off x="580422" y="3902619"/>
            <a:ext cx="1288132"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 Stage- 4</a:t>
            </a:r>
          </a:p>
        </p:txBody>
      </p:sp>
      <p:sp>
        <p:nvSpPr>
          <p:cNvPr id="34" name="Oval 33"/>
          <p:cNvSpPr/>
          <p:nvPr/>
        </p:nvSpPr>
        <p:spPr>
          <a:xfrm>
            <a:off x="1785400" y="3923762"/>
            <a:ext cx="795924" cy="369332"/>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p:cNvSpPr/>
          <p:nvPr/>
        </p:nvSpPr>
        <p:spPr>
          <a:xfrm>
            <a:off x="3177804" y="3933397"/>
            <a:ext cx="795924" cy="369332"/>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p:cNvSpPr/>
          <p:nvPr/>
        </p:nvSpPr>
        <p:spPr>
          <a:xfrm>
            <a:off x="1785400" y="3923762"/>
            <a:ext cx="795924" cy="369332"/>
          </a:xfrm>
          <a:prstGeom prst="rect">
            <a:avLst/>
          </a:prstGeom>
        </p:spPr>
        <p:txBody>
          <a:bodyPr wrap="none">
            <a:spAutoFit/>
          </a:bodyPr>
          <a:lstStyle/>
          <a:p>
            <a:r>
              <a:rPr lang="en-US" b="1" dirty="0">
                <a:latin typeface="Arial" panose="020B0604020202020204" pitchFamily="34" charset="0"/>
                <a:cs typeface="Arial" panose="020B0604020202020204" pitchFamily="34" charset="0"/>
              </a:rPr>
              <a:t>PASS</a:t>
            </a:r>
            <a:endParaRPr lang="en-IN" b="1" dirty="0">
              <a:latin typeface="Arial" panose="020B0604020202020204" pitchFamily="34" charset="0"/>
              <a:cs typeface="Arial" panose="020B0604020202020204" pitchFamily="34" charset="0"/>
            </a:endParaRPr>
          </a:p>
        </p:txBody>
      </p:sp>
      <p:sp>
        <p:nvSpPr>
          <p:cNvPr id="28" name="Rectangle 27"/>
          <p:cNvSpPr/>
          <p:nvPr/>
        </p:nvSpPr>
        <p:spPr>
          <a:xfrm>
            <a:off x="3276228" y="3945184"/>
            <a:ext cx="684867" cy="369332"/>
          </a:xfrm>
          <a:prstGeom prst="rect">
            <a:avLst/>
          </a:prstGeom>
        </p:spPr>
        <p:txBody>
          <a:bodyPr wrap="none">
            <a:spAutoFit/>
          </a:bodyPr>
          <a:lstStyle/>
          <a:p>
            <a:r>
              <a:rPr lang="en-US" b="1" dirty="0">
                <a:latin typeface="Arial" panose="020B0604020202020204" pitchFamily="34" charset="0"/>
                <a:cs typeface="Arial" panose="020B0604020202020204" pitchFamily="34" charset="0"/>
              </a:rPr>
              <a:t>FAIL</a:t>
            </a:r>
            <a:endParaRPr lang="en-IN" b="1" dirty="0">
              <a:latin typeface="Arial" panose="020B0604020202020204" pitchFamily="34" charset="0"/>
              <a:cs typeface="Arial" panose="020B0604020202020204" pitchFamily="34" charset="0"/>
            </a:endParaRPr>
          </a:p>
        </p:txBody>
      </p:sp>
      <p:cxnSp>
        <p:nvCxnSpPr>
          <p:cNvPr id="37" name="Straight Arrow Connector 36"/>
          <p:cNvCxnSpPr>
            <a:stCxn id="9" idx="2"/>
            <a:endCxn id="33" idx="0"/>
          </p:cNvCxnSpPr>
          <p:nvPr/>
        </p:nvCxnSpPr>
        <p:spPr>
          <a:xfrm flipH="1">
            <a:off x="2183362" y="3539377"/>
            <a:ext cx="10025" cy="384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3" idx="2"/>
          </p:cNvCxnSpPr>
          <p:nvPr/>
        </p:nvCxnSpPr>
        <p:spPr>
          <a:xfrm flipH="1">
            <a:off x="2182942" y="4293094"/>
            <a:ext cx="420" cy="426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3" idx="3"/>
          </p:cNvCxnSpPr>
          <p:nvPr/>
        </p:nvCxnSpPr>
        <p:spPr>
          <a:xfrm>
            <a:off x="2581324" y="4108428"/>
            <a:ext cx="596480" cy="9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5" idx="6"/>
          </p:cNvCxnSpPr>
          <p:nvPr/>
        </p:nvCxnSpPr>
        <p:spPr>
          <a:xfrm flipV="1">
            <a:off x="3973728" y="4108428"/>
            <a:ext cx="2122272" cy="963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7" idx="2"/>
          </p:cNvCxnSpPr>
          <p:nvPr/>
        </p:nvCxnSpPr>
        <p:spPr>
          <a:xfrm flipH="1">
            <a:off x="2193386" y="6191216"/>
            <a:ext cx="1534" cy="526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805245" y="6240076"/>
            <a:ext cx="1288132"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 Stage- 5</a:t>
            </a:r>
          </a:p>
        </p:txBody>
      </p:sp>
      <p:sp>
        <p:nvSpPr>
          <p:cNvPr id="10" name="Rectangle 9">
            <a:extLst>
              <a:ext uri="{FF2B5EF4-FFF2-40B4-BE49-F238E27FC236}">
                <a16:creationId xmlns:a16="http://schemas.microsoft.com/office/drawing/2014/main" id="{55CDDDA7-6C9A-F21F-26C3-26DFB7882D10}"/>
              </a:ext>
            </a:extLst>
          </p:cNvPr>
          <p:cNvSpPr/>
          <p:nvPr/>
        </p:nvSpPr>
        <p:spPr>
          <a:xfrm>
            <a:off x="6262395" y="2045989"/>
            <a:ext cx="5705109" cy="3293209"/>
          </a:xfrm>
          <a:prstGeom prst="rect">
            <a:avLst/>
          </a:prstGeom>
        </p:spPr>
        <p:txBody>
          <a:bodyPr wrap="square">
            <a:spAutoFit/>
          </a:bodyPr>
          <a:lstStyle/>
          <a:p>
            <a:pPr lvl="0" eaLnBrk="0" fontAlgn="base" hangingPunct="0">
              <a:spcBef>
                <a:spcPct val="0"/>
              </a:spcBef>
              <a:spcAft>
                <a:spcPct val="0"/>
              </a:spcAft>
              <a:buFontTx/>
              <a:buChar char="•"/>
            </a:pPr>
            <a:r>
              <a:rPr lang="en-US" altLang="en-US" sz="1600" b="1" dirty="0">
                <a:latin typeface="Arial" panose="020B0604020202020204" pitchFamily="34" charset="0"/>
                <a:cs typeface="Arial" panose="020B0604020202020204" pitchFamily="34" charset="0"/>
              </a:rPr>
              <a:t>Batch Input:</a:t>
            </a:r>
          </a:p>
          <a:p>
            <a:pPr lvl="0" eaLnBrk="0" fontAlgn="base" hangingPunct="0">
              <a:spcBef>
                <a:spcPct val="0"/>
              </a:spcBef>
              <a:spcAft>
                <a:spcPct val="0"/>
              </a:spcAft>
            </a:pPr>
            <a:endParaRPr lang="en-US" altLang="en-US" sz="1600"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Batch = MVANC000012</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Line = A</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Range = VAN142536A0001 → VAN142536C0002</a:t>
            </a:r>
          </a:p>
          <a:p>
            <a:pPr lvl="0" eaLnBrk="0" fontAlgn="base" hangingPunct="0">
              <a:spcBef>
                <a:spcPct val="0"/>
              </a:spcBef>
              <a:spcAft>
                <a:spcPct val="0"/>
              </a:spcAft>
            </a:pPr>
            <a:endParaRPr lang="en-US" altLang="en-US" sz="1600"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n-US" altLang="en-US" sz="1600" b="1" dirty="0">
                <a:latin typeface="Arial" panose="020B0604020202020204" pitchFamily="34" charset="0"/>
                <a:cs typeface="Arial" panose="020B0604020202020204" pitchFamily="34" charset="0"/>
              </a:rPr>
              <a:t>Scans:</a:t>
            </a:r>
          </a:p>
          <a:p>
            <a:pPr lvl="0" eaLnBrk="0" fontAlgn="base" hangingPunct="0">
              <a:spcBef>
                <a:spcPct val="0"/>
              </a:spcBef>
              <a:spcAft>
                <a:spcPct val="0"/>
              </a:spcAft>
            </a:pPr>
            <a:endParaRPr lang="en-US" altLang="en-US" sz="1600"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VAN142536A0001 → ✅ Pass (within range).</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VAN142536A5000 → ✅ Pass.</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VAN142536C0002 → ✅ Pass (last QR).</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VAN142536C0003 → ❌ Reject (outside range).</a:t>
            </a:r>
          </a:p>
          <a:p>
            <a:pPr lvl="0" eaLnBrk="0" fontAlgn="base" hangingPunct="0">
              <a:spcBef>
                <a:spcPct val="0"/>
              </a:spcBef>
              <a:spcAft>
                <a:spcPct val="0"/>
              </a:spcAft>
              <a:buFontTx/>
              <a:buChar char="•"/>
            </a:pPr>
            <a:r>
              <a:rPr lang="en-US" altLang="en-US" sz="1600" dirty="0">
                <a:latin typeface="Arial" panose="020B0604020202020204" pitchFamily="34" charset="0"/>
                <a:cs typeface="Arial" panose="020B0604020202020204" pitchFamily="34" charset="0"/>
              </a:rPr>
              <a:t>VAN142536B0100 → ❌ Reject (wrong line).</a:t>
            </a:r>
          </a:p>
        </p:txBody>
      </p:sp>
      <p:sp>
        <p:nvSpPr>
          <p:cNvPr id="16" name="Rounded Rectangle 10">
            <a:extLst>
              <a:ext uri="{FF2B5EF4-FFF2-40B4-BE49-F238E27FC236}">
                <a16:creationId xmlns:a16="http://schemas.microsoft.com/office/drawing/2014/main" id="{47A2C98D-D318-006E-77A0-E0E993801B7B}"/>
              </a:ext>
            </a:extLst>
          </p:cNvPr>
          <p:cNvSpPr/>
          <p:nvPr/>
        </p:nvSpPr>
        <p:spPr>
          <a:xfrm>
            <a:off x="4085492" y="2850885"/>
            <a:ext cx="1903980" cy="115544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QR code is not from this batch it will Reject</a:t>
            </a:r>
            <a:endParaRPr lang="en-IN" dirty="0">
              <a:solidFill>
                <a:schemeClr val="tx1"/>
              </a:solidFill>
            </a:endParaRPr>
          </a:p>
        </p:txBody>
      </p:sp>
      <p:cxnSp>
        <p:nvCxnSpPr>
          <p:cNvPr id="17" name="Straight Arrow Connector 16">
            <a:extLst>
              <a:ext uri="{FF2B5EF4-FFF2-40B4-BE49-F238E27FC236}">
                <a16:creationId xmlns:a16="http://schemas.microsoft.com/office/drawing/2014/main" id="{EABC45D8-327C-EC08-CED3-F83B8EE7775A}"/>
              </a:ext>
            </a:extLst>
          </p:cNvPr>
          <p:cNvCxnSpPr>
            <a:cxnSpLocks/>
          </p:cNvCxnSpPr>
          <p:nvPr/>
        </p:nvCxnSpPr>
        <p:spPr>
          <a:xfrm flipV="1">
            <a:off x="3570031" y="3482826"/>
            <a:ext cx="734509" cy="469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370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17DE80E-2C84-46D4-990D-02A68F89C31B}" type="slidenum">
              <a:rPr lang="en-US" smtClean="0"/>
              <a:t>6</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894" r="31085" b="28604"/>
          <a:stretch/>
        </p:blipFill>
        <p:spPr>
          <a:xfrm>
            <a:off x="869592" y="1856507"/>
            <a:ext cx="5299010" cy="2854037"/>
          </a:xfrm>
          <a:prstGeom prst="rect">
            <a:avLst/>
          </a:prstGeom>
          <a:ln>
            <a:solidFill>
              <a:schemeClr val="tx1"/>
            </a:solidFill>
          </a:ln>
        </p:spPr>
      </p:pic>
      <p:sp>
        <p:nvSpPr>
          <p:cNvPr id="7" name="Rectangle 6"/>
          <p:cNvSpPr/>
          <p:nvPr/>
        </p:nvSpPr>
        <p:spPr>
          <a:xfrm>
            <a:off x="1028906" y="1212213"/>
            <a:ext cx="1288132" cy="400110"/>
          </a:xfrm>
          <a:prstGeom prst="rect">
            <a:avLst/>
          </a:prstGeom>
        </p:spPr>
        <p:txBody>
          <a:bodyPr wrap="square">
            <a:spAutoFit/>
          </a:bodyPr>
          <a:lstStyle/>
          <a:p>
            <a:r>
              <a:rPr lang="en-US" sz="2000" b="1" dirty="0">
                <a:latin typeface="Arial" panose="020B0604020202020204" pitchFamily="34" charset="0"/>
                <a:cs typeface="Arial" panose="020B0604020202020204" pitchFamily="34" charset="0"/>
              </a:rPr>
              <a:t> Stage- 5</a:t>
            </a:r>
          </a:p>
        </p:txBody>
      </p:sp>
      <p:cxnSp>
        <p:nvCxnSpPr>
          <p:cNvPr id="9" name="Straight Arrow Connector 8"/>
          <p:cNvCxnSpPr/>
          <p:nvPr/>
        </p:nvCxnSpPr>
        <p:spPr>
          <a:xfrm>
            <a:off x="3509612" y="968029"/>
            <a:ext cx="9485" cy="888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7102729" y="2414468"/>
            <a:ext cx="1903980" cy="24418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Batch Number</a:t>
            </a:r>
            <a:endParaRPr lang="en-IN" dirty="0">
              <a:solidFill>
                <a:schemeClr val="tx1"/>
              </a:solidFill>
            </a:endParaRPr>
          </a:p>
        </p:txBody>
      </p:sp>
      <p:sp>
        <p:nvSpPr>
          <p:cNvPr id="11" name="Rounded Rectangle 10"/>
          <p:cNvSpPr/>
          <p:nvPr/>
        </p:nvSpPr>
        <p:spPr>
          <a:xfrm>
            <a:off x="7141427" y="3215070"/>
            <a:ext cx="1903980" cy="53784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Cartridge QR Code</a:t>
            </a:r>
            <a:endParaRPr lang="en-IN" dirty="0">
              <a:solidFill>
                <a:schemeClr val="tx1"/>
              </a:solidFill>
            </a:endParaRPr>
          </a:p>
        </p:txBody>
      </p:sp>
      <p:sp>
        <p:nvSpPr>
          <p:cNvPr id="12" name="Rounded Rectangle 11"/>
          <p:cNvSpPr/>
          <p:nvPr/>
        </p:nvSpPr>
        <p:spPr>
          <a:xfrm>
            <a:off x="6855314" y="4272257"/>
            <a:ext cx="1903980" cy="53784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Total Scanned Count</a:t>
            </a:r>
            <a:endParaRPr lang="en-IN" dirty="0">
              <a:solidFill>
                <a:schemeClr val="tx1"/>
              </a:solidFill>
            </a:endParaRPr>
          </a:p>
        </p:txBody>
      </p:sp>
      <p:cxnSp>
        <p:nvCxnSpPr>
          <p:cNvPr id="13" name="Straight Arrow Connector 12"/>
          <p:cNvCxnSpPr>
            <a:endCxn id="10" idx="1"/>
          </p:cNvCxnSpPr>
          <p:nvPr/>
        </p:nvCxnSpPr>
        <p:spPr>
          <a:xfrm flipV="1">
            <a:off x="3740727" y="2536560"/>
            <a:ext cx="3362002" cy="198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1" idx="1"/>
          </p:cNvCxnSpPr>
          <p:nvPr/>
        </p:nvCxnSpPr>
        <p:spPr>
          <a:xfrm>
            <a:off x="4731488" y="3174006"/>
            <a:ext cx="2409939" cy="309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2" idx="1"/>
          </p:cNvCxnSpPr>
          <p:nvPr/>
        </p:nvCxnSpPr>
        <p:spPr>
          <a:xfrm>
            <a:off x="3939294" y="3399100"/>
            <a:ext cx="2916020" cy="1142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7047757" y="1893478"/>
            <a:ext cx="1903980" cy="24418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Date and Time</a:t>
            </a:r>
            <a:endParaRPr lang="en-IN" dirty="0">
              <a:solidFill>
                <a:schemeClr val="tx1"/>
              </a:solidFill>
            </a:endParaRPr>
          </a:p>
        </p:txBody>
      </p:sp>
      <p:cxnSp>
        <p:nvCxnSpPr>
          <p:cNvPr id="22" name="Straight Arrow Connector 21"/>
          <p:cNvCxnSpPr>
            <a:endCxn id="21" idx="1"/>
          </p:cNvCxnSpPr>
          <p:nvPr/>
        </p:nvCxnSpPr>
        <p:spPr>
          <a:xfrm flipV="1">
            <a:off x="2660073" y="2015570"/>
            <a:ext cx="4387684" cy="56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740727" y="983642"/>
            <a:ext cx="7980218" cy="707886"/>
          </a:xfrm>
          <a:prstGeom prst="rect">
            <a:avLst/>
          </a:prstGeom>
        </p:spPr>
        <p:txBody>
          <a:bodyPr wrap="square">
            <a:spAutoFit/>
          </a:bodyPr>
          <a:lstStyle/>
          <a:p>
            <a:pPr marL="342900" indent="-342900">
              <a:buFont typeface="Wingdings" panose="05000000000000000000" pitchFamily="2" charset="2"/>
              <a:buChar char="ü"/>
            </a:pPr>
            <a:r>
              <a:rPr lang="en-US" sz="2000" u="sng" dirty="0">
                <a:latin typeface="Arial" panose="020B0604020202020204" pitchFamily="34" charset="0"/>
                <a:cs typeface="Arial" panose="020B0604020202020204" pitchFamily="34" charset="0"/>
              </a:rPr>
              <a:t>It will display the details and count will increase if cartridge passed in stage 4. </a:t>
            </a:r>
            <a:endParaRPr lang="en-IN" sz="20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33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17DE80E-2C84-46D4-990D-02A68F89C31B}" type="slidenum">
              <a:rPr lang="en-US" smtClean="0"/>
              <a:t>7</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6" name="TextBox 5">
            <a:extLst>
              <a:ext uri="{FF2B5EF4-FFF2-40B4-BE49-F238E27FC236}">
                <a16:creationId xmlns:a16="http://schemas.microsoft.com/office/drawing/2014/main" id="{36418561-5F5D-83A3-9DC4-66F47E5CE7A4}"/>
              </a:ext>
            </a:extLst>
          </p:cNvPr>
          <p:cNvSpPr txBox="1"/>
          <p:nvPr/>
        </p:nvSpPr>
        <p:spPr>
          <a:xfrm>
            <a:off x="924790" y="1211684"/>
            <a:ext cx="7762009" cy="4616648"/>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Arial" panose="020B0604020202020204" pitchFamily="34" charset="0"/>
                <a:cs typeface="Arial" panose="020B0604020202020204" pitchFamily="34" charset="0"/>
              </a:rPr>
              <a:t>Scanning and Validation</a:t>
            </a:r>
          </a:p>
          <a:p>
            <a:pPr>
              <a:buNone/>
            </a:pPr>
            <a:endParaRPr lang="en-IN" b="1" dirty="0">
              <a:latin typeface="Arial" panose="020B0604020202020204" pitchFamily="34" charset="0"/>
              <a:cs typeface="Arial" panose="020B0604020202020204" pitchFamily="34" charset="0"/>
            </a:endParaRPr>
          </a:p>
          <a:p>
            <a:pPr marL="342900" indent="-342900">
              <a:buFont typeface="+mj-lt"/>
              <a:buAutoNum type="arabicPeriod"/>
            </a:pPr>
            <a:r>
              <a:rPr lang="en-IN" b="1" dirty="0">
                <a:latin typeface="Arial" panose="020B0604020202020204" pitchFamily="34" charset="0"/>
                <a:cs typeface="Arial" panose="020B0604020202020204" pitchFamily="34" charset="0"/>
              </a:rPr>
              <a:t>Line Validation</a:t>
            </a:r>
          </a:p>
          <a:p>
            <a:pPr marL="342900" indent="-342900">
              <a:buFont typeface="+mj-lt"/>
              <a:buAutoNum type="arabicPeriod"/>
            </a:pPr>
            <a:endParaRPr lang="en-IN" dirty="0">
              <a:latin typeface="Arial" panose="020B0604020202020204" pitchFamily="34" charset="0"/>
              <a:cs typeface="Arial" panose="020B0604020202020204" pitchFamily="34" charset="0"/>
            </a:endParaRPr>
          </a:p>
          <a:p>
            <a:pPr marL="742950" lvl="1" indent="-285750">
              <a:buFont typeface="+mj-lt"/>
              <a:buAutoNum type="arabicPeriod"/>
            </a:pPr>
            <a:r>
              <a:rPr lang="en-IN" dirty="0">
                <a:latin typeface="Arial" panose="020B0604020202020204" pitchFamily="34" charset="0"/>
                <a:cs typeface="Arial" panose="020B0604020202020204" pitchFamily="34" charset="0"/>
              </a:rPr>
              <a:t>QR Line must match the batch line.</a:t>
            </a:r>
          </a:p>
          <a:p>
            <a:pPr marL="742950" lvl="1" indent="-285750">
              <a:buFont typeface="+mj-lt"/>
              <a:buAutoNum type="arabicPeriod"/>
            </a:pPr>
            <a:r>
              <a:rPr lang="en-IN" dirty="0">
                <a:latin typeface="Arial" panose="020B0604020202020204" pitchFamily="34" charset="0"/>
                <a:cs typeface="Arial" panose="020B0604020202020204" pitchFamily="34" charset="0"/>
              </a:rPr>
              <a:t>❌ If mismatch → Reject, Red Light blink</a:t>
            </a:r>
          </a:p>
          <a:p>
            <a:pPr marL="800100" lvl="1" indent="-342900">
              <a:buFont typeface="+mj-lt"/>
              <a:buAutoNum type="arabicPeriod"/>
            </a:pPr>
            <a:endParaRPr lang="en-IN" dirty="0">
              <a:latin typeface="Arial" panose="020B0604020202020204" pitchFamily="34" charset="0"/>
              <a:cs typeface="Arial" panose="020B0604020202020204" pitchFamily="34" charset="0"/>
            </a:endParaRPr>
          </a:p>
          <a:p>
            <a:pPr marL="342900" indent="-342900">
              <a:buFont typeface="+mj-lt"/>
              <a:buAutoNum type="arabicPeriod"/>
            </a:pPr>
            <a:r>
              <a:rPr lang="en-IN" b="1" dirty="0">
                <a:latin typeface="Arial" panose="020B0604020202020204" pitchFamily="34" charset="0"/>
                <a:cs typeface="Arial" panose="020B0604020202020204" pitchFamily="34" charset="0"/>
              </a:rPr>
              <a:t>Range Validation</a:t>
            </a:r>
          </a:p>
          <a:p>
            <a:pPr marL="342900" indent="-342900">
              <a:buFont typeface="+mj-lt"/>
              <a:buAutoNum type="arabicPeriod"/>
            </a:pPr>
            <a:endParaRPr lang="en-IN" dirty="0">
              <a:latin typeface="Arial" panose="020B0604020202020204" pitchFamily="34" charset="0"/>
              <a:cs typeface="Arial" panose="020B0604020202020204" pitchFamily="34" charset="0"/>
            </a:endParaRPr>
          </a:p>
          <a:p>
            <a:pPr marL="742950" lvl="1" indent="-285750">
              <a:buFont typeface="+mj-lt"/>
              <a:buAutoNum type="arabicPeriod"/>
            </a:pPr>
            <a:r>
              <a:rPr lang="en-IN" dirty="0">
                <a:latin typeface="Arial" panose="020B0604020202020204" pitchFamily="34" charset="0"/>
                <a:cs typeface="Arial" panose="020B0604020202020204" pitchFamily="34" charset="0"/>
              </a:rPr>
              <a:t>QR Serial must be within the </a:t>
            </a:r>
            <a:r>
              <a:rPr lang="en-IN" b="1" dirty="0">
                <a:latin typeface="Arial" panose="020B0604020202020204" pitchFamily="34" charset="0"/>
                <a:cs typeface="Arial" panose="020B0604020202020204" pitchFamily="34" charset="0"/>
              </a:rPr>
              <a:t>QR Range Start → QR Range End</a:t>
            </a:r>
            <a:endParaRPr lang="en-IN" dirty="0">
              <a:latin typeface="Arial" panose="020B0604020202020204" pitchFamily="34" charset="0"/>
              <a:cs typeface="Arial" panose="020B0604020202020204" pitchFamily="34" charset="0"/>
            </a:endParaRPr>
          </a:p>
          <a:p>
            <a:pPr marL="742950" lvl="1" indent="-285750">
              <a:buFont typeface="+mj-lt"/>
              <a:buAutoNum type="arabicPeriod"/>
            </a:pPr>
            <a:r>
              <a:rPr lang="en-IN" dirty="0">
                <a:latin typeface="Arial" panose="020B0604020202020204" pitchFamily="34" charset="0"/>
                <a:cs typeface="Arial" panose="020B0604020202020204" pitchFamily="34" charset="0"/>
              </a:rPr>
              <a:t>❌ If outside → Reject, Red Light blink</a:t>
            </a:r>
          </a:p>
          <a:p>
            <a:pPr marL="800100" lvl="1" indent="-342900">
              <a:buFont typeface="+mj-lt"/>
              <a:buAutoNum type="arabicPeriod"/>
            </a:pPr>
            <a:endParaRPr lang="en-IN" dirty="0">
              <a:latin typeface="Arial" panose="020B0604020202020204" pitchFamily="34" charset="0"/>
              <a:cs typeface="Arial" panose="020B0604020202020204" pitchFamily="34" charset="0"/>
            </a:endParaRPr>
          </a:p>
          <a:p>
            <a:pPr>
              <a:buFont typeface="+mj-lt"/>
              <a:buAutoNum type="arabicPeriod"/>
            </a:pPr>
            <a:r>
              <a:rPr lang="en-IN" b="1" dirty="0">
                <a:latin typeface="Arial" panose="020B0604020202020204" pitchFamily="34" charset="0"/>
                <a:cs typeface="Arial" panose="020B0604020202020204" pitchFamily="34" charset="0"/>
              </a:rPr>
              <a:t>Duplicate / Re-Scan Check</a:t>
            </a:r>
          </a:p>
          <a:p>
            <a:endParaRPr lang="en-IN" dirty="0">
              <a:latin typeface="Arial" panose="020B0604020202020204" pitchFamily="34" charset="0"/>
              <a:cs typeface="Arial" panose="020B0604020202020204" pitchFamily="34" charset="0"/>
            </a:endParaRPr>
          </a:p>
          <a:p>
            <a:pPr marL="742950" lvl="1" indent="-285750">
              <a:buFont typeface="+mj-lt"/>
              <a:buAutoNum type="arabicPeriod"/>
            </a:pPr>
            <a:r>
              <a:rPr lang="en-IN" dirty="0">
                <a:latin typeface="Arial" panose="020B0604020202020204" pitchFamily="34" charset="0"/>
                <a:cs typeface="Arial" panose="020B0604020202020204" pitchFamily="34" charset="0"/>
              </a:rPr>
              <a:t>If QR already scanned → ✅ Pass, Yellow Light blink</a:t>
            </a:r>
          </a:p>
          <a:p>
            <a:pPr marL="742950" lvl="1" indent="-285750">
              <a:buFont typeface="+mj-lt"/>
              <a:buAutoNum type="arabicPeriod"/>
            </a:pPr>
            <a:r>
              <a:rPr lang="en-IN" dirty="0">
                <a:latin typeface="Arial" panose="020B0604020202020204" pitchFamily="34" charset="0"/>
                <a:cs typeface="Arial" panose="020B0604020202020204" pitchFamily="34" charset="0"/>
              </a:rPr>
              <a:t>Else → ✅ Pass, Green Light blink</a:t>
            </a:r>
          </a:p>
        </p:txBody>
      </p:sp>
    </p:spTree>
    <p:extLst>
      <p:ext uri="{BB962C8B-B14F-4D97-AF65-F5344CB8AC3E}">
        <p14:creationId xmlns:p14="http://schemas.microsoft.com/office/powerpoint/2010/main" val="93724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17DE80E-2C84-46D4-990D-02A68F89C31B}" type="slidenum">
              <a:rPr lang="en-US" smtClean="0"/>
              <a:t>8</a:t>
            </a:fld>
            <a:endParaRPr lang="en-US" dirty="0"/>
          </a:p>
        </p:txBody>
      </p:sp>
      <p:sp>
        <p:nvSpPr>
          <p:cNvPr id="4" name="Rectangle 3">
            <a:extLst>
              <a:ext uri="{FF2B5EF4-FFF2-40B4-BE49-F238E27FC236}">
                <a16:creationId xmlns:a16="http://schemas.microsoft.com/office/drawing/2014/main" id="{1359E1EB-DDE7-0906-04E9-F88BE074E81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0F61637-CDE3-F3ED-AD92-A7E509DAFBDA}"/>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391D6BEA-7A98-077A-FDDB-8F322D27EB97}"/>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7" name="TextBox 6">
            <a:extLst>
              <a:ext uri="{FF2B5EF4-FFF2-40B4-BE49-F238E27FC236}">
                <a16:creationId xmlns:a16="http://schemas.microsoft.com/office/drawing/2014/main" id="{00FC5C66-7688-3F48-F300-207882BCBAD8}"/>
              </a:ext>
            </a:extLst>
          </p:cNvPr>
          <p:cNvSpPr txBox="1"/>
          <p:nvPr/>
        </p:nvSpPr>
        <p:spPr>
          <a:xfrm>
            <a:off x="924791" y="1211684"/>
            <a:ext cx="10401300" cy="5262979"/>
          </a:xfrm>
          <a:prstGeom prst="rect">
            <a:avLst/>
          </a:prstGeom>
          <a:noFill/>
        </p:spPr>
        <p:txBody>
          <a:bodyPr wrap="square">
            <a:spAutoFit/>
          </a:bodyPr>
          <a:lstStyle/>
          <a:p>
            <a:pPr marL="342900" indent="-342900">
              <a:buFont typeface="Wingdings" panose="05000000000000000000" pitchFamily="2" charset="2"/>
              <a:buChar char="Ø"/>
            </a:pPr>
            <a:r>
              <a:rPr lang="en-IN" sz="2400" b="1" u="sng" dirty="0">
                <a:latin typeface="Arial" panose="020B0604020202020204" pitchFamily="34" charset="0"/>
                <a:cs typeface="Arial" panose="020B0604020202020204" pitchFamily="34" charset="0"/>
              </a:rPr>
              <a:t>PROTOTYPE MODEL </a:t>
            </a:r>
          </a:p>
          <a:p>
            <a:endParaRPr lang="en-IN" sz="2400" b="1" u="sng"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Open the link and copy the code.</a:t>
            </a:r>
          </a:p>
          <a:p>
            <a:pPr marL="285750" indent="-285750">
              <a:buFont typeface="Arial" panose="020B0604020202020204" pitchFamily="34" charset="0"/>
              <a:buChar char="•"/>
            </a:pPr>
            <a:r>
              <a:rPr lang="en-IN" b="1" dirty="0">
                <a:latin typeface="Arial" panose="020B0604020202020204" pitchFamily="34" charset="0"/>
                <a:cs typeface="Arial" panose="020B0604020202020204" pitchFamily="34" charset="0"/>
                <a:hlinkClick r:id="rId2"/>
              </a:rPr>
              <a:t>https://docs.google.com/document/d/1wfazcp5uvZNXjJm_HsSERG-kLW0GoDAx/edit?usp=drive_link&amp;ouid=107366926054555082251&amp;rtpof=true&amp;sd=true</a:t>
            </a:r>
            <a:endParaRPr lang="en-IN" b="1"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Open Python online compiler and paste the code.</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hlinkClick r:id="rId3"/>
              </a:rPr>
              <a:t>https://www.onlinegdb.com/online_python_compiler</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a:buNone/>
            </a:pPr>
            <a:endParaRPr lang="en-IN" dirty="0">
              <a:latin typeface="Arial" panose="020B0604020202020204" pitchFamily="34" charset="0"/>
              <a:cs typeface="Arial" panose="020B0604020202020204" pitchFamily="34" charset="0"/>
            </a:endParaRPr>
          </a:p>
          <a:p>
            <a:pPr>
              <a:buNone/>
            </a:pPr>
            <a:endParaRPr lang="en-IN" b="1" dirty="0">
              <a:latin typeface="Arial" panose="020B0604020202020204" pitchFamily="34" charset="0"/>
              <a:cs typeface="Arial" panose="020B0604020202020204" pitchFamily="34" charset="0"/>
            </a:endParaRPr>
          </a:p>
        </p:txBody>
      </p:sp>
      <p:pic>
        <p:nvPicPr>
          <p:cNvPr id="10" name="Picture 9" descr="A screenshot of a test">
            <a:extLst>
              <a:ext uri="{FF2B5EF4-FFF2-40B4-BE49-F238E27FC236}">
                <a16:creationId xmlns:a16="http://schemas.microsoft.com/office/drawing/2014/main" id="{88BB345B-6921-04D5-9FCE-CD9B62FC5C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8229" y="2883408"/>
            <a:ext cx="4333644" cy="1981200"/>
          </a:xfrm>
          <a:prstGeom prst="rect">
            <a:avLst/>
          </a:prstGeom>
        </p:spPr>
      </p:pic>
      <p:sp>
        <p:nvSpPr>
          <p:cNvPr id="11" name="Speech Bubble: Oval 10">
            <a:extLst>
              <a:ext uri="{FF2B5EF4-FFF2-40B4-BE49-F238E27FC236}">
                <a16:creationId xmlns:a16="http://schemas.microsoft.com/office/drawing/2014/main" id="{91A9554F-E012-6F9E-F55D-7B6863D6963D}"/>
              </a:ext>
            </a:extLst>
          </p:cNvPr>
          <p:cNvSpPr/>
          <p:nvPr/>
        </p:nvSpPr>
        <p:spPr>
          <a:xfrm>
            <a:off x="4158904" y="2990737"/>
            <a:ext cx="2621280" cy="1097280"/>
          </a:xfrm>
          <a:prstGeom prst="wedgeEllipseCallout">
            <a:avLst>
              <a:gd name="adj1" fmla="val -80136"/>
              <a:gd name="adj2" fmla="val -4212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Open the link and copy the code</a:t>
            </a:r>
          </a:p>
        </p:txBody>
      </p:sp>
      <p:pic>
        <p:nvPicPr>
          <p:cNvPr id="13" name="Picture 12" descr="A screenshot of a computer">
            <a:extLst>
              <a:ext uri="{FF2B5EF4-FFF2-40B4-BE49-F238E27FC236}">
                <a16:creationId xmlns:a16="http://schemas.microsoft.com/office/drawing/2014/main" id="{B9FD9F59-81DF-6086-922B-EB1591BF61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80184" y="4752444"/>
            <a:ext cx="4228805" cy="1787743"/>
          </a:xfrm>
          <a:prstGeom prst="rect">
            <a:avLst/>
          </a:prstGeom>
          <a:ln>
            <a:solidFill>
              <a:schemeClr val="tx1"/>
            </a:solidFill>
          </a:ln>
        </p:spPr>
      </p:pic>
      <p:sp>
        <p:nvSpPr>
          <p:cNvPr id="14" name="Speech Bubble: Oval 13">
            <a:extLst>
              <a:ext uri="{FF2B5EF4-FFF2-40B4-BE49-F238E27FC236}">
                <a16:creationId xmlns:a16="http://schemas.microsoft.com/office/drawing/2014/main" id="{5B5654EC-90B8-F979-962F-A60773ED9608}"/>
              </a:ext>
            </a:extLst>
          </p:cNvPr>
          <p:cNvSpPr/>
          <p:nvPr/>
        </p:nvSpPr>
        <p:spPr>
          <a:xfrm>
            <a:off x="9640859" y="2990738"/>
            <a:ext cx="2420562" cy="1302612"/>
          </a:xfrm>
          <a:prstGeom prst="wedgeEllipseCallout">
            <a:avLst>
              <a:gd name="adj1" fmla="val -56211"/>
              <a:gd name="adj2" fmla="val 10188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Open python and Delete the existing code </a:t>
            </a:r>
          </a:p>
        </p:txBody>
      </p:sp>
      <p:sp>
        <p:nvSpPr>
          <p:cNvPr id="16" name="TextBox 15">
            <a:extLst>
              <a:ext uri="{FF2B5EF4-FFF2-40B4-BE49-F238E27FC236}">
                <a16:creationId xmlns:a16="http://schemas.microsoft.com/office/drawing/2014/main" id="{681E3A46-FF72-F4B0-331A-C494748F6038}"/>
              </a:ext>
            </a:extLst>
          </p:cNvPr>
          <p:cNvSpPr txBox="1"/>
          <p:nvPr/>
        </p:nvSpPr>
        <p:spPr>
          <a:xfrm>
            <a:off x="6853580" y="6515120"/>
            <a:ext cx="4082011" cy="261610"/>
          </a:xfrm>
          <a:prstGeom prst="rect">
            <a:avLst/>
          </a:prstGeom>
          <a:noFill/>
        </p:spPr>
        <p:txBody>
          <a:bodyPr wrap="square">
            <a:spAutoFit/>
          </a:bodyPr>
          <a:lstStyle/>
          <a:p>
            <a:pPr algn="ctr"/>
            <a:r>
              <a:rPr lang="en-US" sz="1100" dirty="0">
                <a:solidFill>
                  <a:schemeClr val="tx1"/>
                </a:solidFill>
                <a:latin typeface="Arial" panose="020B0604020202020204" pitchFamily="34" charset="0"/>
                <a:cs typeface="Arial" panose="020B0604020202020204" pitchFamily="34" charset="0"/>
              </a:rPr>
              <a:t>Python Online compiler </a:t>
            </a:r>
            <a:endParaRPr lang="en-IN" sz="11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792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191CA-9DC1-F1D4-CBF0-0C2DA862034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0C4EBF-07CA-542C-2A6F-C6212EA02E87}"/>
              </a:ext>
            </a:extLst>
          </p:cNvPr>
          <p:cNvSpPr>
            <a:spLocks noGrp="1"/>
          </p:cNvSpPr>
          <p:nvPr>
            <p:ph type="sldNum" sz="quarter" idx="12"/>
          </p:nvPr>
        </p:nvSpPr>
        <p:spPr/>
        <p:txBody>
          <a:bodyPr/>
          <a:lstStyle/>
          <a:p>
            <a:fld id="{517DE80E-2C84-46D4-990D-02A68F89C31B}" type="slidenum">
              <a:rPr lang="en-US" smtClean="0"/>
              <a:t>9</a:t>
            </a:fld>
            <a:endParaRPr lang="en-US" dirty="0"/>
          </a:p>
        </p:txBody>
      </p:sp>
      <p:sp>
        <p:nvSpPr>
          <p:cNvPr id="4" name="Rectangle 3">
            <a:extLst>
              <a:ext uri="{FF2B5EF4-FFF2-40B4-BE49-F238E27FC236}">
                <a16:creationId xmlns:a16="http://schemas.microsoft.com/office/drawing/2014/main" id="{1BA48598-07C8-8123-D3F7-579D39169E4D}"/>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139C948-2288-8E55-75AB-163D21F43260}"/>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4D176247-96E3-1095-1BA1-19D631E32C39}"/>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7" name="TextBox 6">
            <a:extLst>
              <a:ext uri="{FF2B5EF4-FFF2-40B4-BE49-F238E27FC236}">
                <a16:creationId xmlns:a16="http://schemas.microsoft.com/office/drawing/2014/main" id="{CC3B272E-9D52-F2AB-586E-E4DBD28C899D}"/>
              </a:ext>
            </a:extLst>
          </p:cNvPr>
          <p:cNvSpPr txBox="1"/>
          <p:nvPr/>
        </p:nvSpPr>
        <p:spPr>
          <a:xfrm>
            <a:off x="2464609" y="4181737"/>
            <a:ext cx="6096000" cy="369332"/>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After pasting the code click on Run the code.</a:t>
            </a:r>
          </a:p>
        </p:txBody>
      </p:sp>
      <p:pic>
        <p:nvPicPr>
          <p:cNvPr id="10" name="Picture 9" descr="A computer screen with text on it">
            <a:extLst>
              <a:ext uri="{FF2B5EF4-FFF2-40B4-BE49-F238E27FC236}">
                <a16:creationId xmlns:a16="http://schemas.microsoft.com/office/drawing/2014/main" id="{912CB690-7889-7481-3826-714714BE4B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798" y="4564688"/>
            <a:ext cx="4808433" cy="1972616"/>
          </a:xfrm>
          <a:prstGeom prst="rect">
            <a:avLst/>
          </a:prstGeom>
        </p:spPr>
      </p:pic>
      <p:pic>
        <p:nvPicPr>
          <p:cNvPr id="18" name="Picture 17" descr="A computer screen shot of a program&#10;&#10;AI-generated content may be incorrect.">
            <a:extLst>
              <a:ext uri="{FF2B5EF4-FFF2-40B4-BE49-F238E27FC236}">
                <a16:creationId xmlns:a16="http://schemas.microsoft.com/office/drawing/2014/main" id="{A550F0BF-A4F8-FE33-B8F9-1AF7441FC3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4798" y="1456385"/>
            <a:ext cx="4667811" cy="1972615"/>
          </a:xfrm>
          <a:prstGeom prst="rect">
            <a:avLst/>
          </a:prstGeom>
        </p:spPr>
      </p:pic>
      <p:sp>
        <p:nvSpPr>
          <p:cNvPr id="19" name="Speech Bubble: Oval 18">
            <a:extLst>
              <a:ext uri="{FF2B5EF4-FFF2-40B4-BE49-F238E27FC236}">
                <a16:creationId xmlns:a16="http://schemas.microsoft.com/office/drawing/2014/main" id="{0589B8D1-E144-7900-BEFD-FC3416A16249}"/>
              </a:ext>
            </a:extLst>
          </p:cNvPr>
          <p:cNvSpPr/>
          <p:nvPr/>
        </p:nvSpPr>
        <p:spPr>
          <a:xfrm>
            <a:off x="5057754" y="918734"/>
            <a:ext cx="1951683" cy="944220"/>
          </a:xfrm>
          <a:prstGeom prst="wedgeEllipseCallout">
            <a:avLst>
              <a:gd name="adj1" fmla="val -76358"/>
              <a:gd name="adj2" fmla="val 5508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Paste the code here </a:t>
            </a:r>
          </a:p>
        </p:txBody>
      </p:sp>
      <p:pic>
        <p:nvPicPr>
          <p:cNvPr id="21" name="Picture 20">
            <a:extLst>
              <a:ext uri="{FF2B5EF4-FFF2-40B4-BE49-F238E27FC236}">
                <a16:creationId xmlns:a16="http://schemas.microsoft.com/office/drawing/2014/main" id="{41FA0803-ED89-5C89-EC16-61E887096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895" y="3796592"/>
            <a:ext cx="7249537" cy="371527"/>
          </a:xfrm>
          <a:prstGeom prst="rect">
            <a:avLst/>
          </a:prstGeom>
        </p:spPr>
      </p:pic>
      <p:sp>
        <p:nvSpPr>
          <p:cNvPr id="22" name="Oval 21">
            <a:extLst>
              <a:ext uri="{FF2B5EF4-FFF2-40B4-BE49-F238E27FC236}">
                <a16:creationId xmlns:a16="http://schemas.microsoft.com/office/drawing/2014/main" id="{7A8195A2-4351-4A1F-D04D-8001049083A1}"/>
              </a:ext>
            </a:extLst>
          </p:cNvPr>
          <p:cNvSpPr/>
          <p:nvPr/>
        </p:nvSpPr>
        <p:spPr>
          <a:xfrm>
            <a:off x="1198880" y="3647440"/>
            <a:ext cx="1198880" cy="629920"/>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60C331A2-99C4-EDFF-C530-E3A1CD30AA8E}"/>
              </a:ext>
            </a:extLst>
          </p:cNvPr>
          <p:cNvCxnSpPr>
            <a:cxnSpLocks/>
            <a:stCxn id="22" idx="5"/>
          </p:cNvCxnSpPr>
          <p:nvPr/>
        </p:nvCxnSpPr>
        <p:spPr>
          <a:xfrm>
            <a:off x="2222188" y="4185110"/>
            <a:ext cx="327972" cy="379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C70BA-2F7D-21F5-8126-E1C69F3EBBFA}"/>
            </a:ext>
          </a:extLst>
        </p:cNvPr>
        <p:cNvGrpSpPr/>
        <p:nvPr/>
      </p:nvGrpSpPr>
      <p:grpSpPr>
        <a:xfrm>
          <a:off x="0" y="0"/>
          <a:ext cx="0" cy="0"/>
          <a:chOff x="0" y="0"/>
          <a:chExt cx="0" cy="0"/>
        </a:xfrm>
      </p:grpSpPr>
      <p:pic>
        <p:nvPicPr>
          <p:cNvPr id="11" name="Picture 10" descr="A computer screen with text on it">
            <a:extLst>
              <a:ext uri="{FF2B5EF4-FFF2-40B4-BE49-F238E27FC236}">
                <a16:creationId xmlns:a16="http://schemas.microsoft.com/office/drawing/2014/main" id="{682A7AD7-57FE-CF48-4E3B-449C333689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 y="1033295"/>
            <a:ext cx="6142985" cy="3359445"/>
          </a:xfrm>
          <a:prstGeom prst="rect">
            <a:avLst/>
          </a:prstGeom>
        </p:spPr>
      </p:pic>
      <p:sp>
        <p:nvSpPr>
          <p:cNvPr id="3" name="Slide Number Placeholder 2">
            <a:extLst>
              <a:ext uri="{FF2B5EF4-FFF2-40B4-BE49-F238E27FC236}">
                <a16:creationId xmlns:a16="http://schemas.microsoft.com/office/drawing/2014/main" id="{37FAE96E-C18A-3D76-D0C9-754F26C164D5}"/>
              </a:ext>
            </a:extLst>
          </p:cNvPr>
          <p:cNvSpPr>
            <a:spLocks noGrp="1"/>
          </p:cNvSpPr>
          <p:nvPr>
            <p:ph type="sldNum" sz="quarter" idx="12"/>
          </p:nvPr>
        </p:nvSpPr>
        <p:spPr/>
        <p:txBody>
          <a:bodyPr/>
          <a:lstStyle/>
          <a:p>
            <a:fld id="{517DE80E-2C84-46D4-990D-02A68F89C31B}" type="slidenum">
              <a:rPr lang="en-US" smtClean="0"/>
              <a:t>10</a:t>
            </a:fld>
            <a:endParaRPr lang="en-US" dirty="0"/>
          </a:p>
        </p:txBody>
      </p:sp>
      <p:sp>
        <p:nvSpPr>
          <p:cNvPr id="4" name="Rectangle 3">
            <a:extLst>
              <a:ext uri="{FF2B5EF4-FFF2-40B4-BE49-F238E27FC236}">
                <a16:creationId xmlns:a16="http://schemas.microsoft.com/office/drawing/2014/main" id="{12DDD95D-38ED-8273-6581-194FE27CF06B}"/>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67C8306-8B15-AF30-C321-B2B182AF469D}"/>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DA9673ED-5AF5-B329-4E79-19136A43012A}"/>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7" name="TextBox 6">
            <a:extLst>
              <a:ext uri="{FF2B5EF4-FFF2-40B4-BE49-F238E27FC236}">
                <a16:creationId xmlns:a16="http://schemas.microsoft.com/office/drawing/2014/main" id="{F7151602-0D81-5E5F-9F0F-74FCCF3908DF}"/>
              </a:ext>
            </a:extLst>
          </p:cNvPr>
          <p:cNvSpPr txBox="1"/>
          <p:nvPr/>
        </p:nvSpPr>
        <p:spPr>
          <a:xfrm>
            <a:off x="6630665" y="1321706"/>
            <a:ext cx="6096000" cy="369332"/>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After Run the code it will display like this.</a:t>
            </a:r>
          </a:p>
        </p:txBody>
      </p:sp>
      <p:sp>
        <p:nvSpPr>
          <p:cNvPr id="22" name="Oval 21">
            <a:extLst>
              <a:ext uri="{FF2B5EF4-FFF2-40B4-BE49-F238E27FC236}">
                <a16:creationId xmlns:a16="http://schemas.microsoft.com/office/drawing/2014/main" id="{FF576F42-F484-7B8B-FDF9-C14CC1A5B320}"/>
              </a:ext>
            </a:extLst>
          </p:cNvPr>
          <p:cNvSpPr/>
          <p:nvPr/>
        </p:nvSpPr>
        <p:spPr>
          <a:xfrm>
            <a:off x="1534160" y="3508091"/>
            <a:ext cx="1605280" cy="859926"/>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cxnSp>
        <p:nvCxnSpPr>
          <p:cNvPr id="24" name="Straight Arrow Connector 23">
            <a:extLst>
              <a:ext uri="{FF2B5EF4-FFF2-40B4-BE49-F238E27FC236}">
                <a16:creationId xmlns:a16="http://schemas.microsoft.com/office/drawing/2014/main" id="{C0E1A20B-2301-615C-DE95-50283E0C1292}"/>
              </a:ext>
            </a:extLst>
          </p:cNvPr>
          <p:cNvCxnSpPr>
            <a:cxnSpLocks/>
            <a:stCxn id="22" idx="4"/>
          </p:cNvCxnSpPr>
          <p:nvPr/>
        </p:nvCxnSpPr>
        <p:spPr>
          <a:xfrm flipH="1">
            <a:off x="2123440" y="4368017"/>
            <a:ext cx="213360" cy="398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black screen with white text">
            <a:extLst>
              <a:ext uri="{FF2B5EF4-FFF2-40B4-BE49-F238E27FC236}">
                <a16:creationId xmlns:a16="http://schemas.microsoft.com/office/drawing/2014/main" id="{19EBE0DB-11CF-0581-8AC0-E7764FB79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 y="4766846"/>
            <a:ext cx="6087325" cy="1562318"/>
          </a:xfrm>
          <a:prstGeom prst="rect">
            <a:avLst/>
          </a:prstGeom>
        </p:spPr>
      </p:pic>
      <p:sp>
        <p:nvSpPr>
          <p:cNvPr id="19" name="Speech Bubble: Oval 18">
            <a:extLst>
              <a:ext uri="{FF2B5EF4-FFF2-40B4-BE49-F238E27FC236}">
                <a16:creationId xmlns:a16="http://schemas.microsoft.com/office/drawing/2014/main" id="{B2BCC1F3-4631-7B6C-B007-FA6659BE0C6E}"/>
              </a:ext>
            </a:extLst>
          </p:cNvPr>
          <p:cNvSpPr/>
          <p:nvPr/>
        </p:nvSpPr>
        <p:spPr>
          <a:xfrm>
            <a:off x="4430821" y="2496548"/>
            <a:ext cx="2199844" cy="1219200"/>
          </a:xfrm>
          <a:prstGeom prst="wedgeEllipseCallout">
            <a:avLst>
              <a:gd name="adj1" fmla="val -106378"/>
              <a:gd name="adj2" fmla="val 6341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After pressing run it will ask for details</a:t>
            </a:r>
          </a:p>
        </p:txBody>
      </p:sp>
      <p:sp>
        <p:nvSpPr>
          <p:cNvPr id="20" name="TextBox 19">
            <a:extLst>
              <a:ext uri="{FF2B5EF4-FFF2-40B4-BE49-F238E27FC236}">
                <a16:creationId xmlns:a16="http://schemas.microsoft.com/office/drawing/2014/main" id="{5D9D5580-FD6F-8B0C-3877-199683F98292}"/>
              </a:ext>
            </a:extLst>
          </p:cNvPr>
          <p:cNvSpPr txBox="1"/>
          <p:nvPr/>
        </p:nvSpPr>
        <p:spPr>
          <a:xfrm>
            <a:off x="6630665" y="4766846"/>
            <a:ext cx="5459734" cy="646331"/>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Give the required details as shown, like Batch Number , Line etc.. </a:t>
            </a:r>
          </a:p>
        </p:txBody>
      </p:sp>
      <p:cxnSp>
        <p:nvCxnSpPr>
          <p:cNvPr id="25" name="Straight Arrow Connector 24">
            <a:extLst>
              <a:ext uri="{FF2B5EF4-FFF2-40B4-BE49-F238E27FC236}">
                <a16:creationId xmlns:a16="http://schemas.microsoft.com/office/drawing/2014/main" id="{F425B3BD-E07D-47A7-BBFB-AFB031360A4E}"/>
              </a:ext>
            </a:extLst>
          </p:cNvPr>
          <p:cNvCxnSpPr>
            <a:cxnSpLocks/>
          </p:cNvCxnSpPr>
          <p:nvPr/>
        </p:nvCxnSpPr>
        <p:spPr>
          <a:xfrm flipV="1">
            <a:off x="3992880" y="4917440"/>
            <a:ext cx="2722880" cy="172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153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2234-85B2-FFAE-2B46-A0E0309AA2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A3B6B7-69C3-6773-A8CA-831B988DB59A}"/>
              </a:ext>
            </a:extLst>
          </p:cNvPr>
          <p:cNvSpPr>
            <a:spLocks noGrp="1"/>
          </p:cNvSpPr>
          <p:nvPr>
            <p:ph type="sldNum" sz="quarter" idx="12"/>
          </p:nvPr>
        </p:nvSpPr>
        <p:spPr/>
        <p:txBody>
          <a:bodyPr/>
          <a:lstStyle/>
          <a:p>
            <a:fld id="{517DE80E-2C84-46D4-990D-02A68F89C31B}" type="slidenum">
              <a:rPr lang="en-US" smtClean="0"/>
              <a:t>11</a:t>
            </a:fld>
            <a:endParaRPr lang="en-US" dirty="0"/>
          </a:p>
        </p:txBody>
      </p:sp>
      <p:sp>
        <p:nvSpPr>
          <p:cNvPr id="4" name="Rectangle 3">
            <a:extLst>
              <a:ext uri="{FF2B5EF4-FFF2-40B4-BE49-F238E27FC236}">
                <a16:creationId xmlns:a16="http://schemas.microsoft.com/office/drawing/2014/main" id="{CF2731F5-935D-740F-3B8B-7C9C00B09A9C}"/>
              </a:ext>
            </a:extLst>
          </p:cNvPr>
          <p:cNvSpPr/>
          <p:nvPr/>
        </p:nvSpPr>
        <p:spPr>
          <a:xfrm>
            <a:off x="101600" y="822959"/>
            <a:ext cx="81280" cy="5739597"/>
          </a:xfrm>
          <a:prstGeom prst="rect">
            <a:avLst/>
          </a:prstGeom>
          <a:solidFill>
            <a:srgbClr val="E31E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5BAAC0E-5CD2-0930-0F7B-299DB9F1D661}"/>
              </a:ext>
            </a:extLst>
          </p:cNvPr>
          <p:cNvSpPr/>
          <p:nvPr/>
        </p:nvSpPr>
        <p:spPr>
          <a:xfrm rot="5400000">
            <a:off x="6240678" y="-4946692"/>
            <a:ext cx="80069" cy="11619373"/>
          </a:xfrm>
          <a:prstGeom prst="rect">
            <a:avLst/>
          </a:prstGeom>
          <a:solidFill>
            <a:srgbClr val="7272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9C104B2F-57BA-4137-78C8-DF54C851A5DA}"/>
              </a:ext>
            </a:extLst>
          </p:cNvPr>
          <p:cNvSpPr>
            <a:spLocks noGrp="1"/>
          </p:cNvSpPr>
          <p:nvPr>
            <p:ph type="title"/>
          </p:nvPr>
        </p:nvSpPr>
        <p:spPr>
          <a:xfrm>
            <a:off x="539999" y="87313"/>
            <a:ext cx="10615681" cy="622300"/>
          </a:xfrm>
        </p:spPr>
        <p:txBody>
          <a:bodyPr/>
          <a:lstStyle/>
          <a:p>
            <a:r>
              <a:rPr lang="en-US" dirty="0"/>
              <a:t>Prevention of Batch Mix-Up Using Automated QR Scanning Jig</a:t>
            </a:r>
            <a:endParaRPr lang="en-US" dirty="0">
              <a:ln w="3175">
                <a:noFill/>
              </a:ln>
              <a:solidFill>
                <a:schemeClr val="tx1"/>
              </a:solidFill>
              <a:cs typeface="+mj-lt"/>
              <a:sym typeface="+mn-ea"/>
            </a:endParaRPr>
          </a:p>
        </p:txBody>
      </p:sp>
      <p:sp>
        <p:nvSpPr>
          <p:cNvPr id="7" name="TextBox 6">
            <a:extLst>
              <a:ext uri="{FF2B5EF4-FFF2-40B4-BE49-F238E27FC236}">
                <a16:creationId xmlns:a16="http://schemas.microsoft.com/office/drawing/2014/main" id="{B3F435DB-9AA7-561C-A218-667CC217641C}"/>
              </a:ext>
            </a:extLst>
          </p:cNvPr>
          <p:cNvSpPr txBox="1"/>
          <p:nvPr/>
        </p:nvSpPr>
        <p:spPr>
          <a:xfrm>
            <a:off x="6427878" y="3864143"/>
            <a:ext cx="5539626" cy="646331"/>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After entering the QR code if it is not from the batch it will reject as shown.</a:t>
            </a:r>
          </a:p>
        </p:txBody>
      </p:sp>
      <p:pic>
        <p:nvPicPr>
          <p:cNvPr id="6" name="Picture 5" descr="A screenshot of a computer&#10;&#10;AI-generated content may be incorrect.">
            <a:extLst>
              <a:ext uri="{FF2B5EF4-FFF2-40B4-BE49-F238E27FC236}">
                <a16:creationId xmlns:a16="http://schemas.microsoft.com/office/drawing/2014/main" id="{3D7B07A0-7414-1F2A-08CC-EFEFBD807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999" y="1055699"/>
            <a:ext cx="5878570" cy="5582047"/>
          </a:xfrm>
          <a:prstGeom prst="rect">
            <a:avLst/>
          </a:prstGeom>
        </p:spPr>
      </p:pic>
      <p:sp>
        <p:nvSpPr>
          <p:cNvPr id="22" name="Oval 21">
            <a:extLst>
              <a:ext uri="{FF2B5EF4-FFF2-40B4-BE49-F238E27FC236}">
                <a16:creationId xmlns:a16="http://schemas.microsoft.com/office/drawing/2014/main" id="{B9958385-EAEA-8630-D26F-0B08980CD8DA}"/>
              </a:ext>
            </a:extLst>
          </p:cNvPr>
          <p:cNvSpPr/>
          <p:nvPr/>
        </p:nvSpPr>
        <p:spPr>
          <a:xfrm>
            <a:off x="224496" y="4409440"/>
            <a:ext cx="5170464" cy="458411"/>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70379EFD-BDCA-00E2-24FD-66F71B4F0BA9}"/>
              </a:ext>
            </a:extLst>
          </p:cNvPr>
          <p:cNvCxnSpPr>
            <a:cxnSpLocks/>
            <a:stCxn id="22" idx="6"/>
          </p:cNvCxnSpPr>
          <p:nvPr/>
        </p:nvCxnSpPr>
        <p:spPr>
          <a:xfrm flipV="1">
            <a:off x="5394960" y="4195514"/>
            <a:ext cx="1306918" cy="44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Speech Bubble: Oval 18">
            <a:extLst>
              <a:ext uri="{FF2B5EF4-FFF2-40B4-BE49-F238E27FC236}">
                <a16:creationId xmlns:a16="http://schemas.microsoft.com/office/drawing/2014/main" id="{34E73E92-5442-17D1-2267-F8EF171DC7A4}"/>
              </a:ext>
            </a:extLst>
          </p:cNvPr>
          <p:cNvSpPr/>
          <p:nvPr/>
        </p:nvSpPr>
        <p:spPr>
          <a:xfrm>
            <a:off x="6842012" y="1130128"/>
            <a:ext cx="1932414" cy="944220"/>
          </a:xfrm>
          <a:prstGeom prst="wedgeEllipseCallout">
            <a:avLst>
              <a:gd name="adj1" fmla="val -206223"/>
              <a:gd name="adj2" fmla="val 773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Enter the details here </a:t>
            </a:r>
          </a:p>
        </p:txBody>
      </p:sp>
      <p:sp>
        <p:nvSpPr>
          <p:cNvPr id="9" name="Speech Bubble: Oval 8">
            <a:extLst>
              <a:ext uri="{FF2B5EF4-FFF2-40B4-BE49-F238E27FC236}">
                <a16:creationId xmlns:a16="http://schemas.microsoft.com/office/drawing/2014/main" id="{64F6747F-6123-FDD1-6ECB-7CABFA6498F8}"/>
              </a:ext>
            </a:extLst>
          </p:cNvPr>
          <p:cNvSpPr/>
          <p:nvPr/>
        </p:nvSpPr>
        <p:spPr>
          <a:xfrm>
            <a:off x="7081520" y="2705419"/>
            <a:ext cx="2387600" cy="944220"/>
          </a:xfrm>
          <a:prstGeom prst="wedgeEllipseCallout">
            <a:avLst>
              <a:gd name="adj1" fmla="val -237030"/>
              <a:gd name="adj2" fmla="val 128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Enter the QR number here </a:t>
            </a:r>
          </a:p>
        </p:txBody>
      </p:sp>
      <p:sp>
        <p:nvSpPr>
          <p:cNvPr id="25" name="Speech Bubble: Oval 24">
            <a:extLst>
              <a:ext uri="{FF2B5EF4-FFF2-40B4-BE49-F238E27FC236}">
                <a16:creationId xmlns:a16="http://schemas.microsoft.com/office/drawing/2014/main" id="{C65E023D-C268-0D3E-EBA7-6D44123580CC}"/>
              </a:ext>
            </a:extLst>
          </p:cNvPr>
          <p:cNvSpPr/>
          <p:nvPr/>
        </p:nvSpPr>
        <p:spPr>
          <a:xfrm>
            <a:off x="7081520" y="4923247"/>
            <a:ext cx="3556000" cy="1226537"/>
          </a:xfrm>
          <a:prstGeom prst="wedgeEllipseCallout">
            <a:avLst>
              <a:gd name="adj1" fmla="val -204007"/>
              <a:gd name="adj2" fmla="val -2216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After scanning all Cartridges type STOP and press Enter</a:t>
            </a:r>
          </a:p>
        </p:txBody>
      </p:sp>
      <p:sp>
        <p:nvSpPr>
          <p:cNvPr id="26" name="Speech Bubble: Oval 25">
            <a:extLst>
              <a:ext uri="{FF2B5EF4-FFF2-40B4-BE49-F238E27FC236}">
                <a16:creationId xmlns:a16="http://schemas.microsoft.com/office/drawing/2014/main" id="{A75FBFA9-CAEB-AFB2-3C52-BD0911AC38B9}"/>
              </a:ext>
            </a:extLst>
          </p:cNvPr>
          <p:cNvSpPr/>
          <p:nvPr/>
        </p:nvSpPr>
        <p:spPr>
          <a:xfrm>
            <a:off x="3358639" y="5577840"/>
            <a:ext cx="3069239" cy="1101556"/>
          </a:xfrm>
          <a:prstGeom prst="wedgeEllipseCallout">
            <a:avLst>
              <a:gd name="adj1" fmla="val -80067"/>
              <a:gd name="adj2" fmla="val -2063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The result will shown like this at the batch end</a:t>
            </a:r>
          </a:p>
        </p:txBody>
      </p:sp>
    </p:spTree>
    <p:extLst>
      <p:ext uri="{BB962C8B-B14F-4D97-AF65-F5344CB8AC3E}">
        <p14:creationId xmlns:p14="http://schemas.microsoft.com/office/powerpoint/2010/main" val="161286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rotWithShape="1">
          <a:blip r:embed="rId2" cstate="print"/>
          <a:srcRect/>
          <a:stretch>
            <a:fillRect/>
          </a:stretch>
        </p:blipFill>
        <p:spPr>
          <a:xfrm>
            <a:off x="0" y="0"/>
            <a:ext cx="12192000" cy="6858000"/>
          </a:xfrm>
          <a:prstGeom prst="rect">
            <a:avLst/>
          </a:prstGeom>
        </p:spPr>
      </p:pic>
      <p:sp>
        <p:nvSpPr>
          <p:cNvPr id="26" name="Rectangle 25"/>
          <p:cNvSpPr/>
          <p:nvPr/>
        </p:nvSpPr>
        <p:spPr>
          <a:xfrm>
            <a:off x="0" y="0"/>
            <a:ext cx="12192000" cy="6858000"/>
          </a:xfrm>
          <a:prstGeom prst="rect">
            <a:avLst/>
          </a:prstGeom>
          <a:gradFill flip="none" rotWithShape="1">
            <a:gsLst>
              <a:gs pos="0">
                <a:schemeClr val="bg1">
                  <a:lumMod val="95000"/>
                  <a:alpha val="52000"/>
                </a:schemeClr>
              </a:gs>
              <a:gs pos="100000">
                <a:schemeClr val="bg1">
                  <a:alpha val="62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H="1">
            <a:off x="660400" y="5474608"/>
            <a:ext cx="11531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Rounded Corners 9"/>
          <p:cNvSpPr/>
          <p:nvPr/>
        </p:nvSpPr>
        <p:spPr>
          <a:xfrm>
            <a:off x="249433" y="5474608"/>
            <a:ext cx="2404867" cy="715296"/>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n w="9525">
                  <a:noFill/>
                </a:ln>
                <a:solidFill>
                  <a:schemeClr val="bg1"/>
                </a:solidFill>
                <a:cs typeface="Arial" panose="020B0604020202020204" pitchFamily="34" charset="0"/>
              </a:rPr>
              <a:t>Thank You</a:t>
            </a:r>
          </a:p>
        </p:txBody>
      </p:sp>
      <p:sp>
        <p:nvSpPr>
          <p:cNvPr id="11" name="Google Shape;691;p14"/>
          <p:cNvSpPr txBox="1"/>
          <p:nvPr/>
        </p:nvSpPr>
        <p:spPr>
          <a:xfrm>
            <a:off x="2822212" y="5549083"/>
            <a:ext cx="9253673" cy="1141969"/>
          </a:xfrm>
          <a:prstGeom prst="rect">
            <a:avLst/>
          </a:prstGeom>
          <a:noFill/>
          <a:ln>
            <a:noFill/>
          </a:ln>
        </p:spPr>
        <p:txBody>
          <a:bodyPr spcFirstLastPara="1" wrap="square" lIns="0" tIns="64125" rIns="0" bIns="0" anchor="t" anchorCtr="0">
            <a:spAutoFit/>
          </a:bodyPr>
          <a:lstStyle/>
          <a:p>
            <a:pPr marL="12700" marR="0" lvl="0" indent="0" rtl="0">
              <a:spcAft>
                <a:spcPts val="300"/>
              </a:spcAft>
              <a:buNone/>
            </a:pPr>
            <a:r>
              <a:rPr lang="en-US" sz="900" b="1" dirty="0">
                <a:solidFill>
                  <a:schemeClr val="tx2"/>
                </a:solidFill>
                <a:ea typeface="Arial" panose="020B0604020202020204"/>
                <a:cs typeface="Arial" panose="020B0604020202020204"/>
                <a:sym typeface="Arial" panose="020B0604020202020204"/>
              </a:rPr>
              <a:t>DISCLAIMER</a:t>
            </a:r>
            <a:endParaRPr lang="en-US" sz="800" b="1" dirty="0">
              <a:solidFill>
                <a:schemeClr val="tx2"/>
              </a:solidFill>
              <a:ea typeface="Arial" panose="020B0604020202020204"/>
              <a:cs typeface="Arial" panose="020B0604020202020204"/>
              <a:sym typeface="Arial" panose="020B0604020202020204"/>
            </a:endParaRPr>
          </a:p>
          <a:p>
            <a:pPr marL="12700" marR="5080" lvl="0" indent="0" rtl="0">
              <a:spcAft>
                <a:spcPts val="300"/>
              </a:spcAft>
              <a:buNone/>
            </a:pPr>
            <a:r>
              <a:rPr lang="en-US" sz="800" dirty="0">
                <a:solidFill>
                  <a:schemeClr val="dk1"/>
                </a:solidFill>
                <a:ea typeface="Arial" panose="020B0604020202020204"/>
                <a:cs typeface="Arial" panose="020B0604020202020204"/>
                <a:sym typeface="Arial" panose="020B0604020202020204"/>
              </a:rPr>
              <a:t>This presentation has been prepared exclusively for information purposes only and is strictly confidential. The information and statistical data herein have been extracted from internal documents, publicly available information and/ or also obtained from sources the parties involved in the preparation of this presentation believe to be reliable but in no way are warranted by them as to accuracy or completeness. The parties involved in the preparation of this presentation accept no responsibility for any losses resulting from the use or transmission of the data or views represented in this presentation. The recipient is provided the information contained herein on a confidential basis which should not be disclosed to third parties or duplicated or used for any purpose.</a:t>
            </a:r>
            <a:endParaRPr sz="800" dirty="0">
              <a:solidFill>
                <a:schemeClr val="dk1"/>
              </a:solidFill>
              <a:ea typeface="Arial" panose="020B0604020202020204"/>
              <a:cs typeface="Arial" panose="020B0604020202020204"/>
              <a:sym typeface="Arial" panose="020B0604020202020204"/>
            </a:endParaRPr>
          </a:p>
          <a:p>
            <a:pPr marL="12700" marR="5080" lvl="0" indent="0" rtl="0">
              <a:spcAft>
                <a:spcPts val="0"/>
              </a:spcAft>
              <a:buNone/>
            </a:pPr>
            <a:r>
              <a:rPr lang="en-US" sz="800" dirty="0">
                <a:solidFill>
                  <a:schemeClr val="dk1"/>
                </a:solidFill>
                <a:ea typeface="Arial" panose="020B0604020202020204"/>
                <a:cs typeface="Arial" panose="020B0604020202020204"/>
                <a:sym typeface="Arial" panose="020B0604020202020204"/>
              </a:rPr>
              <a:t>The parties involved in the preparation of this presentation shall not be liable for the relevance, accuracy or completeness of the information contained herein, and disclaim any and all liability as to the information set forth herein or omissions here from, including, without limitation, any express or implied representation or warranty with respect to such information.</a:t>
            </a:r>
          </a:p>
        </p:txBody>
      </p:sp>
      <p:grpSp>
        <p:nvGrpSpPr>
          <p:cNvPr id="24" name="Group 23"/>
          <p:cNvGrpSpPr/>
          <p:nvPr/>
        </p:nvGrpSpPr>
        <p:grpSpPr>
          <a:xfrm>
            <a:off x="2736150" y="4533900"/>
            <a:ext cx="2635950" cy="708119"/>
            <a:chOff x="2736150" y="4749800"/>
            <a:chExt cx="2635950" cy="708119"/>
          </a:xfrm>
        </p:grpSpPr>
        <p:cxnSp>
          <p:nvCxnSpPr>
            <p:cNvPr id="13" name="Straight Connector 12"/>
            <p:cNvCxnSpPr/>
            <p:nvPr/>
          </p:nvCxnSpPr>
          <p:spPr>
            <a:xfrm>
              <a:off x="3309406" y="4749800"/>
              <a:ext cx="1489438" cy="0"/>
            </a:xfrm>
            <a:prstGeom prst="line">
              <a:avLst/>
            </a:prstGeom>
            <a:ln w="9525">
              <a:gradFill flip="none" rotWithShape="1">
                <a:gsLst>
                  <a:gs pos="75000">
                    <a:schemeClr val="bg1">
                      <a:lumMod val="50000"/>
                    </a:schemeClr>
                  </a:gs>
                  <a:gs pos="25000">
                    <a:schemeClr val="bg1">
                      <a:lumMod val="50000"/>
                    </a:schemeClr>
                  </a:gs>
                  <a:gs pos="0">
                    <a:schemeClr val="bg1">
                      <a:alpha val="0"/>
                    </a:schemeClr>
                  </a:gs>
                  <a:gs pos="50000">
                    <a:schemeClr val="tx1">
                      <a:lumMod val="65000"/>
                      <a:lumOff val="35000"/>
                    </a:schemeClr>
                  </a:gs>
                  <a:gs pos="100000">
                    <a:schemeClr val="bg1">
                      <a:alpha val="0"/>
                    </a:schemeClr>
                  </a:gs>
                </a:gsLst>
                <a:lin ang="0" scaled="1"/>
                <a:tileRect/>
              </a:gradFill>
              <a:prstDash val="soli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736150" y="4970606"/>
              <a:ext cx="2635950" cy="487313"/>
            </a:xfrm>
            <a:prstGeom prst="rect">
              <a:avLst/>
            </a:prstGeom>
            <a:noFill/>
          </p:spPr>
          <p:txBody>
            <a:bodyPr wrap="square">
              <a:spAutoFit/>
            </a:bodyPr>
            <a:lstStyle/>
            <a:p>
              <a:pPr algn="ctr">
                <a:spcAft>
                  <a:spcPts val="200"/>
                </a:spcAft>
              </a:pPr>
              <a:r>
                <a:rPr lang="en-US" sz="1200" b="1" dirty="0">
                  <a:solidFill>
                    <a:schemeClr val="tx2"/>
                  </a:solidFill>
                </a:rPr>
                <a:t>For more information:</a:t>
              </a:r>
            </a:p>
            <a:p>
              <a:pPr algn="ctr">
                <a:spcAft>
                  <a:spcPts val="200"/>
                </a:spcAft>
              </a:pPr>
              <a:r>
                <a:rPr lang="en-US" sz="1200" dirty="0">
                  <a:hlinkClick r:id="rId3"/>
                </a:rPr>
                <a:t>www.molbiodiagnostics.com</a:t>
              </a:r>
              <a:endParaRPr lang="en-US" sz="1200" dirty="0"/>
            </a:p>
          </p:txBody>
        </p:sp>
      </p:grpSp>
      <p:grpSp>
        <p:nvGrpSpPr>
          <p:cNvPr id="23" name="Group 22"/>
          <p:cNvGrpSpPr/>
          <p:nvPr/>
        </p:nvGrpSpPr>
        <p:grpSpPr>
          <a:xfrm>
            <a:off x="6244147" y="4533900"/>
            <a:ext cx="3942560" cy="692073"/>
            <a:chOff x="5214140" y="4749800"/>
            <a:chExt cx="3942560" cy="692073"/>
          </a:xfrm>
        </p:grpSpPr>
        <p:cxnSp>
          <p:nvCxnSpPr>
            <p:cNvPr id="16" name="Straight Connector 15"/>
            <p:cNvCxnSpPr/>
            <p:nvPr/>
          </p:nvCxnSpPr>
          <p:spPr>
            <a:xfrm>
              <a:off x="6440701" y="4749800"/>
              <a:ext cx="1489438" cy="0"/>
            </a:xfrm>
            <a:prstGeom prst="line">
              <a:avLst/>
            </a:prstGeom>
            <a:ln w="9525">
              <a:gradFill flip="none" rotWithShape="1">
                <a:gsLst>
                  <a:gs pos="75000">
                    <a:schemeClr val="bg1">
                      <a:lumMod val="50000"/>
                    </a:schemeClr>
                  </a:gs>
                  <a:gs pos="25000">
                    <a:schemeClr val="bg1">
                      <a:lumMod val="50000"/>
                    </a:schemeClr>
                  </a:gs>
                  <a:gs pos="0">
                    <a:schemeClr val="bg1">
                      <a:alpha val="0"/>
                    </a:schemeClr>
                  </a:gs>
                  <a:gs pos="50000">
                    <a:schemeClr val="tx1">
                      <a:lumMod val="65000"/>
                      <a:lumOff val="35000"/>
                    </a:schemeClr>
                  </a:gs>
                  <a:gs pos="100000">
                    <a:schemeClr val="bg1">
                      <a:alpha val="0"/>
                    </a:schemeClr>
                  </a:gs>
                </a:gsLst>
                <a:lin ang="0" scaled="1"/>
                <a:tileRect/>
              </a:gradFill>
              <a:prstDash val="soli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214140" y="4954560"/>
              <a:ext cx="3942560" cy="487313"/>
            </a:xfrm>
            <a:prstGeom prst="rect">
              <a:avLst/>
            </a:prstGeom>
            <a:noFill/>
          </p:spPr>
          <p:txBody>
            <a:bodyPr wrap="square">
              <a:spAutoFit/>
            </a:bodyPr>
            <a:lstStyle/>
            <a:p>
              <a:pPr algn="ctr">
                <a:spcAft>
                  <a:spcPts val="200"/>
                </a:spcAft>
              </a:pPr>
              <a:r>
                <a:rPr lang="en-US" sz="1200" b="1" dirty="0">
                  <a:solidFill>
                    <a:schemeClr val="tx2"/>
                  </a:solidFill>
                </a:rPr>
                <a:t>Write us at:</a:t>
              </a:r>
            </a:p>
            <a:p>
              <a:pPr algn="ctr"/>
              <a:r>
                <a:rPr lang="en-US" sz="1200" dirty="0">
                  <a:hlinkClick r:id="rId4"/>
                </a:rPr>
                <a:t>@molbiodiagnostics.com</a:t>
              </a:r>
              <a:endParaRPr lang="en-US" sz="1200" dirty="0"/>
            </a:p>
          </p:txBody>
        </p:sp>
      </p:grpSp>
      <p:grpSp>
        <p:nvGrpSpPr>
          <p:cNvPr id="22" name="Group 21"/>
          <p:cNvGrpSpPr/>
          <p:nvPr/>
        </p:nvGrpSpPr>
        <p:grpSpPr>
          <a:xfrm>
            <a:off x="10480367" y="4533900"/>
            <a:ext cx="1499702" cy="676027"/>
            <a:chOff x="9545529" y="4749800"/>
            <a:chExt cx="1499702" cy="676027"/>
          </a:xfrm>
        </p:grpSpPr>
        <p:cxnSp>
          <p:nvCxnSpPr>
            <p:cNvPr id="17" name="Straight Connector 16"/>
            <p:cNvCxnSpPr/>
            <p:nvPr/>
          </p:nvCxnSpPr>
          <p:spPr>
            <a:xfrm>
              <a:off x="9550661" y="4749800"/>
              <a:ext cx="1489438" cy="0"/>
            </a:xfrm>
            <a:prstGeom prst="line">
              <a:avLst/>
            </a:prstGeom>
            <a:ln w="9525">
              <a:gradFill flip="none" rotWithShape="1">
                <a:gsLst>
                  <a:gs pos="75000">
                    <a:schemeClr val="bg1">
                      <a:lumMod val="50000"/>
                    </a:schemeClr>
                  </a:gs>
                  <a:gs pos="25000">
                    <a:schemeClr val="bg1">
                      <a:lumMod val="50000"/>
                    </a:schemeClr>
                  </a:gs>
                  <a:gs pos="0">
                    <a:schemeClr val="bg1">
                      <a:alpha val="0"/>
                    </a:schemeClr>
                  </a:gs>
                  <a:gs pos="50000">
                    <a:schemeClr val="tx1">
                      <a:lumMod val="65000"/>
                      <a:lumOff val="35000"/>
                    </a:schemeClr>
                  </a:gs>
                  <a:gs pos="100000">
                    <a:schemeClr val="bg1">
                      <a:alpha val="0"/>
                    </a:schemeClr>
                  </a:gs>
                </a:gsLst>
                <a:lin ang="0" scaled="1"/>
                <a:tileRect/>
              </a:gradFill>
              <a:prstDash val="soli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545529" y="4938514"/>
              <a:ext cx="1499702" cy="487313"/>
            </a:xfrm>
            <a:prstGeom prst="rect">
              <a:avLst/>
            </a:prstGeom>
            <a:noFill/>
          </p:spPr>
          <p:txBody>
            <a:bodyPr wrap="square">
              <a:spAutoFit/>
            </a:bodyPr>
            <a:lstStyle/>
            <a:p>
              <a:pPr algn="ctr">
                <a:spcAft>
                  <a:spcPts val="200"/>
                </a:spcAft>
              </a:pPr>
              <a:r>
                <a:rPr lang="en-US" sz="1200" b="1" dirty="0">
                  <a:solidFill>
                    <a:schemeClr val="tx2"/>
                  </a:solidFill>
                </a:rPr>
                <a:t>Call us at:</a:t>
              </a:r>
            </a:p>
            <a:p>
              <a:pPr algn="ctr">
                <a:spcAft>
                  <a:spcPts val="200"/>
                </a:spcAft>
              </a:pPr>
              <a:r>
                <a:rPr lang="en-US" sz="1200" dirty="0"/>
                <a:t>+91</a:t>
              </a:r>
            </a:p>
          </p:txBody>
        </p:sp>
      </p:grpSp>
      <p:pic>
        <p:nvPicPr>
          <p:cNvPr id="27" name="Graphic 26"/>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11042342" y="3974642"/>
            <a:ext cx="375752" cy="375752"/>
          </a:xfrm>
          <a:prstGeom prst="rect">
            <a:avLst/>
          </a:prstGeom>
        </p:spPr>
      </p:pic>
      <p:pic>
        <p:nvPicPr>
          <p:cNvPr id="29" name="Graphic 28">
            <a:hlinkClick r:id="rId4"/>
          </p:cNvPr>
          <p:cNvPicPr>
            <a:picLocks noChangeAspect="1"/>
          </p:cNvPicPr>
          <p:nvPr/>
        </p:nvPicPr>
        <p:blipFill>
          <a:blip r:embed="rId7" cstate="print">
            <a:extLst>
              <a:ext uri="{96DAC541-7B7A-43D3-8B79-37D633B846F1}">
                <asvg:svgBlip xmlns:asvg="http://schemas.microsoft.com/office/drawing/2016/SVG/main" r:embed="rId8"/>
              </a:ext>
            </a:extLst>
          </a:blip>
          <a:stretch>
            <a:fillRect/>
          </a:stretch>
        </p:blipFill>
        <p:spPr>
          <a:xfrm>
            <a:off x="7999427" y="3946518"/>
            <a:ext cx="432000" cy="432000"/>
          </a:xfrm>
          <a:prstGeom prst="rect">
            <a:avLst/>
          </a:prstGeom>
        </p:spPr>
      </p:pic>
      <p:pic>
        <p:nvPicPr>
          <p:cNvPr id="31" name="Graphic 30">
            <a:hlinkClick r:id="rId3"/>
          </p:cNvPr>
          <p:cNvPicPr>
            <a:picLocks noChangeAspect="1"/>
          </p:cNvPicPr>
          <p:nvPr/>
        </p:nvPicPr>
        <p:blipFill>
          <a:blip r:embed="rId9" cstate="print">
            <a:extLst>
              <a:ext uri="{96DAC541-7B7A-43D3-8B79-37D633B846F1}">
                <asvg:svgBlip xmlns:asvg="http://schemas.microsoft.com/office/drawing/2016/SVG/main" r:embed="rId10"/>
              </a:ext>
            </a:extLst>
          </a:blip>
          <a:stretch>
            <a:fillRect/>
          </a:stretch>
        </p:blipFill>
        <p:spPr>
          <a:xfrm>
            <a:off x="3864862" y="3973255"/>
            <a:ext cx="378526" cy="378526"/>
          </a:xfrm>
          <a:prstGeom prst="rect">
            <a:avLst/>
          </a:prstGeom>
        </p:spPr>
      </p:pic>
      <p:pic>
        <p:nvPicPr>
          <p:cNvPr id="2" name="Picture 1"/>
          <p:cNvPicPr>
            <a:picLocks noChangeAspect="1"/>
          </p:cNvPicPr>
          <p:nvPr/>
        </p:nvPicPr>
        <p:blipFill>
          <a:blip r:embed="rId11" cstate="print">
            <a:clrChange>
              <a:clrFrom>
                <a:srgbClr val="FDFDFD">
                  <a:alpha val="100000"/>
                </a:srgbClr>
              </a:clrFrom>
              <a:clrTo>
                <a:srgbClr val="FDFDFD">
                  <a:alpha val="100000"/>
                  <a:alpha val="0"/>
                </a:srgbClr>
              </a:clrTo>
            </a:clrChange>
            <a:extLst>
              <a:ext uri="{28A0092B-C50C-407E-A947-70E740481C1C}">
                <a14:useLocalDpi xmlns:a14="http://schemas.microsoft.com/office/drawing/2010/main" val="0"/>
              </a:ext>
            </a:extLst>
          </a:blip>
          <a:stretch>
            <a:fillRect/>
          </a:stretch>
        </p:blipFill>
        <p:spPr>
          <a:xfrm>
            <a:off x="6717030" y="12700"/>
            <a:ext cx="5062855" cy="3580765"/>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92">
      <a:dk1>
        <a:sysClr val="windowText" lastClr="000000"/>
      </a:dk1>
      <a:lt1>
        <a:sysClr val="window" lastClr="FFFFFF"/>
      </a:lt1>
      <a:dk2>
        <a:srgbClr val="44546A"/>
      </a:dk2>
      <a:lt2>
        <a:srgbClr val="E7E6E6"/>
      </a:lt2>
      <a:accent1>
        <a:srgbClr val="DD2A1B"/>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8">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1164</TotalTime>
  <Words>841</Words>
  <Application>Microsoft Office PowerPoint</Application>
  <PresentationFormat>Widescreen</PresentationFormat>
  <Paragraphs>133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Wingdings</vt:lpstr>
      <vt:lpstr>Arial</vt:lpstr>
      <vt:lpstr>Calibri</vt:lpstr>
      <vt:lpstr>Century Gothic</vt:lpstr>
      <vt:lpstr>Office Theme</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Prevention of Batch Mix-Up Using Automated QR Scanning Jig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Nimish Raul</dc:creator>
  <cp:lastModifiedBy>kaushik sai</cp:lastModifiedBy>
  <cp:revision>291</cp:revision>
  <cp:lastPrinted>2025-08-29T02:14:48Z</cp:lastPrinted>
  <dcterms:created xsi:type="dcterms:W3CDTF">2024-02-13T10:43:00Z</dcterms:created>
  <dcterms:modified xsi:type="dcterms:W3CDTF">2025-09-30T01:51:21Z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AA6780AA0B4A47CB9D944CBBE5F6DF24_12</vt:lpwstr>
  </property>
  <property fmtid="{D5CDD505-2E9C-101B-9397-08002B2CF9AE}" pid="3" name="KSOProductBuildVer">
    <vt:lpwstr>1033-12.2.0.18607</vt:lpwstr>
  </property>
</Properties>
</file>